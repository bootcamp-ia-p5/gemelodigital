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2060"/>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217920"/>
            <a:ext cx="12188952" cy="64008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0"/>
            <a:ext cx="7315200" cy="457200"/>
          </a:xfrm>
          <a:prstGeom prst="rect">
            <a:avLst/>
          </a:prstGeom>
          <a:noFill/>
        </p:spPr>
        <p:txBody>
          <a:bodyPr wrap="square">
            <a:spAutoFit/>
          </a:bodyPr>
          <a:lstStyle/>
          <a:p>
            <a:pPr algn="l"/>
            <a:r>
              <a:rPr sz="1300" b="0">
                <a:solidFill>
                  <a:srgbClr val="07A74F"/>
                </a:solidFill>
                <a:latin typeface="Comfortaa"/>
              </a:rPr>
              <a:t>DATOS</a:t>
            </a:r>
          </a:p>
        </p:txBody>
      </p:sp>
      <p:sp>
        <p:nvSpPr>
          <p:cNvPr id="5" name="TextBox 4"/>
          <p:cNvSpPr txBox="1"/>
          <p:nvPr/>
        </p:nvSpPr>
        <p:spPr>
          <a:xfrm>
            <a:off x="548640" y="1645920"/>
            <a:ext cx="10515600" cy="1828800"/>
          </a:xfrm>
          <a:prstGeom prst="rect">
            <a:avLst/>
          </a:prstGeom>
          <a:noFill/>
        </p:spPr>
        <p:txBody>
          <a:bodyPr wrap="square">
            <a:spAutoFit/>
          </a:bodyPr>
          <a:lstStyle/>
          <a:p>
            <a:pPr algn="l"/>
            <a:r>
              <a:rPr sz="4600" b="1">
                <a:solidFill>
                  <a:srgbClr val="FFFFFF"/>
                </a:solidFill>
                <a:latin typeface="Comfortaa"/>
              </a:rPr>
              <a:t>Machine Learning</a:t>
            </a:r>
          </a:p>
        </p:txBody>
      </p:sp>
      <p:sp>
        <p:nvSpPr>
          <p:cNvPr id="6" name="TextBox 5"/>
          <p:cNvSpPr txBox="1"/>
          <p:nvPr/>
        </p:nvSpPr>
        <p:spPr>
          <a:xfrm>
            <a:off x="548640" y="3566160"/>
            <a:ext cx="8686800" cy="914400"/>
          </a:xfrm>
          <a:prstGeom prst="rect">
            <a:avLst/>
          </a:prstGeom>
          <a:noFill/>
        </p:spPr>
        <p:txBody>
          <a:bodyPr wrap="square">
            <a:spAutoFit/>
          </a:bodyPr>
          <a:lstStyle/>
          <a:p>
            <a:pPr algn="l"/>
            <a:r>
              <a:rPr sz="1800" b="0">
                <a:solidFill>
                  <a:srgbClr val="CCDDFF"/>
                </a:solidFill>
                <a:latin typeface="Comfortaa"/>
              </a:rPr>
              <a:t>Entrenamiento, evaluación y despliegue de modelos predictivos y algoritmos de IA.</a:t>
            </a:r>
          </a:p>
        </p:txBody>
      </p:sp>
      <p:sp>
        <p:nvSpPr>
          <p:cNvPr id="7" name="TextBox 6"/>
          <p:cNvSpPr txBox="1"/>
          <p:nvPr/>
        </p:nvSpPr>
        <p:spPr>
          <a:xfrm>
            <a:off x="548640" y="4572000"/>
            <a:ext cx="4572000" cy="457200"/>
          </a:xfrm>
          <a:prstGeom prst="rect">
            <a:avLst/>
          </a:prstGeom>
          <a:noFill/>
        </p:spPr>
        <p:txBody>
          <a:bodyPr wrap="square">
            <a:spAutoFit/>
          </a:bodyPr>
          <a:lstStyle/>
          <a:p>
            <a:pPr algn="l"/>
            <a:r>
              <a:rPr sz="1500" b="0">
                <a:solidFill>
                  <a:srgbClr val="FF8C00"/>
                </a:solidFill>
                <a:latin typeface="Comfortaa"/>
              </a:rPr>
              <a:t>Nivel: Avanzado</a:t>
            </a:r>
          </a:p>
        </p:txBody>
      </p:sp>
      <p:sp>
        <p:nvSpPr>
          <p:cNvPr id="8" name="TextBox 7"/>
          <p:cNvSpPr txBox="1"/>
          <p:nvPr/>
        </p:nvSpPr>
        <p:spPr>
          <a:xfrm>
            <a:off x="8686800" y="6263640"/>
            <a:ext cx="3200400" cy="457200"/>
          </a:xfrm>
          <a:prstGeom prst="rect">
            <a:avLst/>
          </a:prstGeom>
          <a:noFill/>
        </p:spPr>
        <p:txBody>
          <a:bodyPr wrap="square">
            <a:spAutoFit/>
          </a:bodyPr>
          <a:lstStyle/>
          <a:p>
            <a:pPr algn="r"/>
            <a:r>
              <a:rPr sz="1600" b="1">
                <a:solidFill>
                  <a:srgbClr val="FFFFFF"/>
                </a:solidFill>
                <a:latin typeface="Comfortaa"/>
              </a:rPr>
              <a:t>dataquantum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9144000" cy="822960"/>
          </a:xfrm>
          <a:prstGeom prst="rect">
            <a:avLst/>
          </a:prstGeom>
          <a:noFill/>
        </p:spPr>
        <p:txBody>
          <a:bodyPr wrap="square">
            <a:spAutoFit/>
          </a:bodyPr>
          <a:lstStyle/>
          <a:p>
            <a:pPr algn="l"/>
            <a:r>
              <a:rPr sz="3000" b="1">
                <a:solidFill>
                  <a:srgbClr val="FFFFFF"/>
                </a:solidFill>
                <a:latin typeface="Comfortaa"/>
              </a:rPr>
              <a:t>Índice de Módulos</a:t>
            </a:r>
          </a:p>
        </p:txBody>
      </p:sp>
      <p:sp>
        <p:nvSpPr>
          <p:cNvPr id="4" name="TextBox 3"/>
          <p:cNvSpPr txBox="1"/>
          <p:nvPr/>
        </p:nvSpPr>
        <p:spPr>
          <a:xfrm>
            <a:off x="457200" y="868680"/>
            <a:ext cx="9144000" cy="411480"/>
          </a:xfrm>
          <a:prstGeom prst="rect">
            <a:avLst/>
          </a:prstGeom>
          <a:noFill/>
        </p:spPr>
        <p:txBody>
          <a:bodyPr wrap="square">
            <a:spAutoFit/>
          </a:bodyPr>
          <a:lstStyle/>
          <a:p>
            <a:pPr algn="l"/>
            <a:r>
              <a:rPr sz="1400" b="0">
                <a:solidFill>
                  <a:srgbClr val="07A74F"/>
                </a:solidFill>
                <a:latin typeface="Comfortaa"/>
              </a:rPr>
              <a:t>Machine Learning</a:t>
            </a:r>
          </a:p>
        </p:txBody>
      </p:sp>
      <p:sp>
        <p:nvSpPr>
          <p:cNvPr id="5" name="Rectangle 4"/>
          <p:cNvSpPr/>
          <p:nvPr/>
        </p:nvSpPr>
        <p:spPr>
          <a:xfrm>
            <a:off x="0" y="1280160"/>
            <a:ext cx="12188952" cy="54864"/>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0876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508760"/>
            <a:ext cx="502920" cy="502920"/>
          </a:xfrm>
          <a:prstGeom prst="rect">
            <a:avLst/>
          </a:prstGeom>
          <a:noFill/>
        </p:spPr>
        <p:txBody>
          <a:bodyPr wrap="square">
            <a:spAutoFit/>
          </a:bodyPr>
          <a:lstStyle/>
          <a:p>
            <a:pPr algn="ctr"/>
            <a:r>
              <a:rPr sz="1800" b="1">
                <a:solidFill>
                  <a:srgbClr val="FFFFFF"/>
                </a:solidFill>
                <a:latin typeface="Comfortaa"/>
              </a:rPr>
              <a:t>1</a:t>
            </a:r>
          </a:p>
        </p:txBody>
      </p:sp>
      <p:sp>
        <p:nvSpPr>
          <p:cNvPr id="8" name="TextBox 7"/>
          <p:cNvSpPr txBox="1"/>
          <p:nvPr/>
        </p:nvSpPr>
        <p:spPr>
          <a:xfrm>
            <a:off x="1005840" y="1536192"/>
            <a:ext cx="5029200" cy="457200"/>
          </a:xfrm>
          <a:prstGeom prst="rect">
            <a:avLst/>
          </a:prstGeom>
          <a:noFill/>
        </p:spPr>
        <p:txBody>
          <a:bodyPr wrap="square">
            <a:spAutoFit/>
          </a:bodyPr>
          <a:lstStyle/>
          <a:p>
            <a:pPr algn="l"/>
            <a:r>
              <a:rPr sz="1700" b="1">
                <a:solidFill>
                  <a:srgbClr val="002060"/>
                </a:solidFill>
                <a:latin typeface="Comfortaa"/>
              </a:rPr>
              <a:t>Fundamentos de ML</a:t>
            </a:r>
          </a:p>
        </p:txBody>
      </p:sp>
      <p:sp>
        <p:nvSpPr>
          <p:cNvPr id="9" name="TextBox 8"/>
          <p:cNvSpPr txBox="1"/>
          <p:nvPr/>
        </p:nvSpPr>
        <p:spPr>
          <a:xfrm>
            <a:off x="1005840" y="1965960"/>
            <a:ext cx="10515600" cy="411480"/>
          </a:xfrm>
          <a:prstGeom prst="rect">
            <a:avLst/>
          </a:prstGeom>
          <a:noFill/>
        </p:spPr>
        <p:txBody>
          <a:bodyPr wrap="square">
            <a:spAutoFit/>
          </a:bodyPr>
          <a:lstStyle/>
          <a:p>
            <a:pPr algn="l"/>
            <a:r>
              <a:rPr sz="1200" b="0">
                <a:solidFill>
                  <a:srgbClr val="444444"/>
                </a:solidFill>
                <a:latin typeface="Comfortaa"/>
              </a:rPr>
              <a:t>Tipos de aprendizaje  ·  Pipeline de ML  ·  Evaluación de modelos</a:t>
            </a:r>
          </a:p>
        </p:txBody>
      </p:sp>
      <p:sp>
        <p:nvSpPr>
          <p:cNvPr id="10" name="Rectangle 9"/>
          <p:cNvSpPr/>
          <p:nvPr/>
        </p:nvSpPr>
        <p:spPr>
          <a:xfrm>
            <a:off x="365760" y="246888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2468880"/>
            <a:ext cx="502920" cy="502920"/>
          </a:xfrm>
          <a:prstGeom prst="rect">
            <a:avLst/>
          </a:prstGeom>
          <a:noFill/>
        </p:spPr>
        <p:txBody>
          <a:bodyPr wrap="square">
            <a:spAutoFit/>
          </a:bodyPr>
          <a:lstStyle/>
          <a:p>
            <a:pPr algn="ctr"/>
            <a:r>
              <a:rPr sz="1800" b="1">
                <a:solidFill>
                  <a:srgbClr val="FFFFFF"/>
                </a:solidFill>
                <a:latin typeface="Comfortaa"/>
              </a:rPr>
              <a:t>2</a:t>
            </a:r>
          </a:p>
        </p:txBody>
      </p:sp>
      <p:sp>
        <p:nvSpPr>
          <p:cNvPr id="12" name="TextBox 11"/>
          <p:cNvSpPr txBox="1"/>
          <p:nvPr/>
        </p:nvSpPr>
        <p:spPr>
          <a:xfrm>
            <a:off x="1005840" y="2496312"/>
            <a:ext cx="5029200" cy="457200"/>
          </a:xfrm>
          <a:prstGeom prst="rect">
            <a:avLst/>
          </a:prstGeom>
          <a:noFill/>
        </p:spPr>
        <p:txBody>
          <a:bodyPr wrap="square">
            <a:spAutoFit/>
          </a:bodyPr>
          <a:lstStyle/>
          <a:p>
            <a:pPr algn="l"/>
            <a:r>
              <a:rPr sz="1700" b="1">
                <a:solidFill>
                  <a:srgbClr val="002060"/>
                </a:solidFill>
                <a:latin typeface="Comfortaa"/>
              </a:rPr>
              <a:t>Aprendizaje Supervisado</a:t>
            </a:r>
          </a:p>
        </p:txBody>
      </p:sp>
      <p:sp>
        <p:nvSpPr>
          <p:cNvPr id="13" name="TextBox 12"/>
          <p:cNvSpPr txBox="1"/>
          <p:nvPr/>
        </p:nvSpPr>
        <p:spPr>
          <a:xfrm>
            <a:off x="1005840" y="2926080"/>
            <a:ext cx="10515600" cy="411480"/>
          </a:xfrm>
          <a:prstGeom prst="rect">
            <a:avLst/>
          </a:prstGeom>
          <a:noFill/>
        </p:spPr>
        <p:txBody>
          <a:bodyPr wrap="square">
            <a:spAutoFit/>
          </a:bodyPr>
          <a:lstStyle/>
          <a:p>
            <a:pPr algn="l"/>
            <a:r>
              <a:rPr sz="1200" b="0">
                <a:solidFill>
                  <a:srgbClr val="444444"/>
                </a:solidFill>
                <a:latin typeface="Comfortaa"/>
              </a:rPr>
              <a:t>Regresión y clasificación  ·  Árboles y ensembles  ·  SVM y KNN</a:t>
            </a:r>
          </a:p>
        </p:txBody>
      </p:sp>
      <p:sp>
        <p:nvSpPr>
          <p:cNvPr id="14" name="Rectangle 13"/>
          <p:cNvSpPr/>
          <p:nvPr/>
        </p:nvSpPr>
        <p:spPr>
          <a:xfrm>
            <a:off x="365760" y="342900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3429000"/>
            <a:ext cx="502920" cy="502920"/>
          </a:xfrm>
          <a:prstGeom prst="rect">
            <a:avLst/>
          </a:prstGeom>
          <a:noFill/>
        </p:spPr>
        <p:txBody>
          <a:bodyPr wrap="square">
            <a:spAutoFit/>
          </a:bodyPr>
          <a:lstStyle/>
          <a:p>
            <a:pPr algn="ctr"/>
            <a:r>
              <a:rPr sz="1800" b="1">
                <a:solidFill>
                  <a:srgbClr val="FFFFFF"/>
                </a:solidFill>
                <a:latin typeface="Comfortaa"/>
              </a:rPr>
              <a:t>3</a:t>
            </a:r>
          </a:p>
        </p:txBody>
      </p:sp>
      <p:sp>
        <p:nvSpPr>
          <p:cNvPr id="16" name="TextBox 15"/>
          <p:cNvSpPr txBox="1"/>
          <p:nvPr/>
        </p:nvSpPr>
        <p:spPr>
          <a:xfrm>
            <a:off x="1005840" y="3456432"/>
            <a:ext cx="5029200" cy="457200"/>
          </a:xfrm>
          <a:prstGeom prst="rect">
            <a:avLst/>
          </a:prstGeom>
          <a:noFill/>
        </p:spPr>
        <p:txBody>
          <a:bodyPr wrap="square">
            <a:spAutoFit/>
          </a:bodyPr>
          <a:lstStyle/>
          <a:p>
            <a:pPr algn="l"/>
            <a:r>
              <a:rPr sz="1700" b="1">
                <a:solidFill>
                  <a:srgbClr val="002060"/>
                </a:solidFill>
                <a:latin typeface="Comfortaa"/>
              </a:rPr>
              <a:t>Aprendizaje No Supervisado</a:t>
            </a:r>
          </a:p>
        </p:txBody>
      </p:sp>
      <p:sp>
        <p:nvSpPr>
          <p:cNvPr id="17" name="TextBox 16"/>
          <p:cNvSpPr txBox="1"/>
          <p:nvPr/>
        </p:nvSpPr>
        <p:spPr>
          <a:xfrm>
            <a:off x="1005840" y="3886200"/>
            <a:ext cx="10515600" cy="411480"/>
          </a:xfrm>
          <a:prstGeom prst="rect">
            <a:avLst/>
          </a:prstGeom>
          <a:noFill/>
        </p:spPr>
        <p:txBody>
          <a:bodyPr wrap="square">
            <a:spAutoFit/>
          </a:bodyPr>
          <a:lstStyle/>
          <a:p>
            <a:pPr algn="l"/>
            <a:r>
              <a:rPr sz="1200" b="0">
                <a:solidFill>
                  <a:srgbClr val="444444"/>
                </a:solidFill>
                <a:latin typeface="Comfortaa"/>
              </a:rPr>
              <a:t>Clustering (K-means, DBSCAN)  ·  Reducción de dimensionalidad  ·  Detección de anomalías</a:t>
            </a:r>
          </a:p>
        </p:txBody>
      </p:sp>
      <p:sp>
        <p:nvSpPr>
          <p:cNvPr id="18" name="Rectangle 17"/>
          <p:cNvSpPr/>
          <p:nvPr/>
        </p:nvSpPr>
        <p:spPr>
          <a:xfrm>
            <a:off x="365760" y="438912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4389120"/>
            <a:ext cx="502920" cy="502920"/>
          </a:xfrm>
          <a:prstGeom prst="rect">
            <a:avLst/>
          </a:prstGeom>
          <a:noFill/>
        </p:spPr>
        <p:txBody>
          <a:bodyPr wrap="square">
            <a:spAutoFit/>
          </a:bodyPr>
          <a:lstStyle/>
          <a:p>
            <a:pPr algn="ctr"/>
            <a:r>
              <a:rPr sz="1800" b="1">
                <a:solidFill>
                  <a:srgbClr val="FFFFFF"/>
                </a:solidFill>
                <a:latin typeface="Comfortaa"/>
              </a:rPr>
              <a:t>4</a:t>
            </a:r>
          </a:p>
        </p:txBody>
      </p:sp>
      <p:sp>
        <p:nvSpPr>
          <p:cNvPr id="20" name="TextBox 19"/>
          <p:cNvSpPr txBox="1"/>
          <p:nvPr/>
        </p:nvSpPr>
        <p:spPr>
          <a:xfrm>
            <a:off x="1005840" y="4416552"/>
            <a:ext cx="5029200" cy="457200"/>
          </a:xfrm>
          <a:prstGeom prst="rect">
            <a:avLst/>
          </a:prstGeom>
          <a:noFill/>
        </p:spPr>
        <p:txBody>
          <a:bodyPr wrap="square">
            <a:spAutoFit/>
          </a:bodyPr>
          <a:lstStyle/>
          <a:p>
            <a:pPr algn="l"/>
            <a:r>
              <a:rPr sz="1700" b="1">
                <a:solidFill>
                  <a:srgbClr val="002060"/>
                </a:solidFill>
                <a:latin typeface="Comfortaa"/>
              </a:rPr>
              <a:t>Deep Learning</a:t>
            </a:r>
          </a:p>
        </p:txBody>
      </p:sp>
      <p:sp>
        <p:nvSpPr>
          <p:cNvPr id="21" name="TextBox 20"/>
          <p:cNvSpPr txBox="1"/>
          <p:nvPr/>
        </p:nvSpPr>
        <p:spPr>
          <a:xfrm>
            <a:off x="1005840" y="4846320"/>
            <a:ext cx="10515600" cy="411480"/>
          </a:xfrm>
          <a:prstGeom prst="rect">
            <a:avLst/>
          </a:prstGeom>
          <a:noFill/>
        </p:spPr>
        <p:txBody>
          <a:bodyPr wrap="square">
            <a:spAutoFit/>
          </a:bodyPr>
          <a:lstStyle/>
          <a:p>
            <a:pPr algn="l"/>
            <a:r>
              <a:rPr sz="1200" b="0">
                <a:solidFill>
                  <a:srgbClr val="444444"/>
                </a:solidFill>
                <a:latin typeface="Comfortaa"/>
              </a:rPr>
              <a:t>Redes neuronales  ·  CNN para visión  ·  Transformers y NLP</a:t>
            </a:r>
          </a:p>
        </p:txBody>
      </p:sp>
      <p:sp>
        <p:nvSpPr>
          <p:cNvPr id="22" name="Rectangle 21"/>
          <p:cNvSpPr/>
          <p:nvPr/>
        </p:nvSpPr>
        <p:spPr>
          <a:xfrm>
            <a:off x="365760" y="534924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5349240"/>
            <a:ext cx="502920" cy="502920"/>
          </a:xfrm>
          <a:prstGeom prst="rect">
            <a:avLst/>
          </a:prstGeom>
          <a:noFill/>
        </p:spPr>
        <p:txBody>
          <a:bodyPr wrap="square">
            <a:spAutoFit/>
          </a:bodyPr>
          <a:lstStyle/>
          <a:p>
            <a:pPr algn="ctr"/>
            <a:r>
              <a:rPr sz="1800" b="1">
                <a:solidFill>
                  <a:srgbClr val="FFFFFF"/>
                </a:solidFill>
                <a:latin typeface="Comfortaa"/>
              </a:rPr>
              <a:t>5</a:t>
            </a:r>
          </a:p>
        </p:txBody>
      </p:sp>
      <p:sp>
        <p:nvSpPr>
          <p:cNvPr id="24" name="TextBox 23"/>
          <p:cNvSpPr txBox="1"/>
          <p:nvPr/>
        </p:nvSpPr>
        <p:spPr>
          <a:xfrm>
            <a:off x="1005840" y="5376672"/>
            <a:ext cx="5029200" cy="457200"/>
          </a:xfrm>
          <a:prstGeom prst="rect">
            <a:avLst/>
          </a:prstGeom>
          <a:noFill/>
        </p:spPr>
        <p:txBody>
          <a:bodyPr wrap="square">
            <a:spAutoFit/>
          </a:bodyPr>
          <a:lstStyle/>
          <a:p>
            <a:pPr algn="l"/>
            <a:r>
              <a:rPr sz="1700" b="1">
                <a:solidFill>
                  <a:srgbClr val="002060"/>
                </a:solidFill>
                <a:latin typeface="Comfortaa"/>
              </a:rPr>
              <a:t>MLOps y Producción</a:t>
            </a:r>
          </a:p>
        </p:txBody>
      </p:sp>
      <p:sp>
        <p:nvSpPr>
          <p:cNvPr id="25" name="TextBox 24"/>
          <p:cNvSpPr txBox="1"/>
          <p:nvPr/>
        </p:nvSpPr>
        <p:spPr>
          <a:xfrm>
            <a:off x="1005840" y="5806440"/>
            <a:ext cx="10515600" cy="411480"/>
          </a:xfrm>
          <a:prstGeom prst="rect">
            <a:avLst/>
          </a:prstGeom>
          <a:noFill/>
        </p:spPr>
        <p:txBody>
          <a:bodyPr wrap="square">
            <a:spAutoFit/>
          </a:bodyPr>
          <a:lstStyle/>
          <a:p>
            <a:pPr algn="l"/>
            <a:r>
              <a:rPr sz="1200" b="0">
                <a:solidFill>
                  <a:srgbClr val="444444"/>
                </a:solidFill>
                <a:latin typeface="Comfortaa"/>
              </a:rPr>
              <a:t>Despliegue de modelos  ·  Monitorización  ·  Reentrenamiento automático</a:t>
            </a:r>
          </a:p>
        </p:txBody>
      </p:sp>
      <p:sp>
        <p:nvSpPr>
          <p:cNvPr id="26" name="Rectangle 25"/>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A74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7315200" cy="548640"/>
          </a:xfrm>
          <a:prstGeom prst="rect">
            <a:avLst/>
          </a:prstGeom>
          <a:noFill/>
        </p:spPr>
        <p:txBody>
          <a:bodyPr wrap="square">
            <a:spAutoFit/>
          </a:bodyPr>
          <a:lstStyle/>
          <a:p>
            <a:pPr algn="l"/>
            <a:r>
              <a:rPr sz="2000" b="1">
                <a:solidFill>
                  <a:srgbClr val="FFFFFF"/>
                </a:solidFill>
                <a:latin typeface="Comfortaa"/>
              </a:rPr>
              <a:t>MÓDULO 1</a:t>
            </a:r>
          </a:p>
        </p:txBody>
      </p:sp>
      <p:sp>
        <p:nvSpPr>
          <p:cNvPr id="4" name="TextBox 3"/>
          <p:cNvSpPr txBox="1"/>
          <p:nvPr/>
        </p:nvSpPr>
        <p:spPr>
          <a:xfrm>
            <a:off x="548640" y="2011680"/>
            <a:ext cx="10515600" cy="1645920"/>
          </a:xfrm>
          <a:prstGeom prst="rect">
            <a:avLst/>
          </a:prstGeom>
          <a:noFill/>
        </p:spPr>
        <p:txBody>
          <a:bodyPr wrap="square">
            <a:spAutoFit/>
          </a:bodyPr>
          <a:lstStyle/>
          <a:p>
            <a:pPr algn="l"/>
            <a:r>
              <a:rPr sz="4000" b="1">
                <a:solidFill>
                  <a:srgbClr val="FFFFFF"/>
                </a:solidFill>
                <a:latin typeface="Comfortaa"/>
              </a:rPr>
              <a:t>Fundamentos de ML</a:t>
            </a:r>
          </a:p>
        </p:txBody>
      </p:sp>
      <p:sp>
        <p:nvSpPr>
          <p:cNvPr id="5" name="TextBox 4"/>
          <p:cNvSpPr txBox="1"/>
          <p:nvPr/>
        </p:nvSpPr>
        <p:spPr>
          <a:xfrm>
            <a:off x="731520" y="3840480"/>
            <a:ext cx="7315200" cy="457200"/>
          </a:xfrm>
          <a:prstGeom prst="rect">
            <a:avLst/>
          </a:prstGeom>
          <a:noFill/>
        </p:spPr>
        <p:txBody>
          <a:bodyPr wrap="square">
            <a:spAutoFit/>
          </a:bodyPr>
          <a:lstStyle/>
          <a:p>
            <a:pPr algn="l"/>
            <a:r>
              <a:rPr sz="1600" b="0">
                <a:solidFill>
                  <a:srgbClr val="FFFFFF"/>
                </a:solidFill>
                <a:latin typeface="Comfortaa"/>
              </a:rPr>
              <a:t>→  Tipos de aprendizaje</a:t>
            </a:r>
          </a:p>
        </p:txBody>
      </p:sp>
      <p:sp>
        <p:nvSpPr>
          <p:cNvPr id="6" name="TextBox 5"/>
          <p:cNvSpPr txBox="1"/>
          <p:nvPr/>
        </p:nvSpPr>
        <p:spPr>
          <a:xfrm>
            <a:off x="731520" y="4343400"/>
            <a:ext cx="7315200" cy="457200"/>
          </a:xfrm>
          <a:prstGeom prst="rect">
            <a:avLst/>
          </a:prstGeom>
          <a:noFill/>
        </p:spPr>
        <p:txBody>
          <a:bodyPr wrap="square">
            <a:spAutoFit/>
          </a:bodyPr>
          <a:lstStyle/>
          <a:p>
            <a:pPr algn="l"/>
            <a:r>
              <a:rPr sz="1600" b="0">
                <a:solidFill>
                  <a:srgbClr val="FFFFFF"/>
                </a:solidFill>
                <a:latin typeface="Comfortaa"/>
              </a:rPr>
              <a:t>→  Pipeline de ML</a:t>
            </a:r>
          </a:p>
        </p:txBody>
      </p:sp>
      <p:sp>
        <p:nvSpPr>
          <p:cNvPr id="7" name="TextBox 6"/>
          <p:cNvSpPr txBox="1"/>
          <p:nvPr/>
        </p:nvSpPr>
        <p:spPr>
          <a:xfrm>
            <a:off x="731520" y="4846320"/>
            <a:ext cx="7315200" cy="457200"/>
          </a:xfrm>
          <a:prstGeom prst="rect">
            <a:avLst/>
          </a:prstGeom>
          <a:noFill/>
        </p:spPr>
        <p:txBody>
          <a:bodyPr wrap="square">
            <a:spAutoFit/>
          </a:bodyPr>
          <a:lstStyle/>
          <a:p>
            <a:pPr algn="l"/>
            <a:r>
              <a:rPr sz="1600" b="0">
                <a:solidFill>
                  <a:srgbClr val="FFFFFF"/>
                </a:solidFill>
                <a:latin typeface="Comfortaa"/>
              </a:rPr>
              <a:t>→  Evaluación de modelos</a:t>
            </a:r>
          </a:p>
        </p:txBody>
      </p:sp>
      <p:sp>
        <p:nvSpPr>
          <p:cNvPr id="8" name="Rectangle 7"/>
          <p:cNvSpPr/>
          <p:nvPr/>
        </p:nvSpPr>
        <p:spPr>
          <a:xfrm>
            <a:off x="0" y="6309360"/>
            <a:ext cx="12188952" cy="5486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327648"/>
            <a:ext cx="10972800" cy="365760"/>
          </a:xfrm>
          <a:prstGeom prst="rect">
            <a:avLst/>
          </a:prstGeom>
          <a:noFill/>
        </p:spPr>
        <p:txBody>
          <a:bodyPr wrap="square">
            <a:spAutoFit/>
          </a:bodyPr>
          <a:lstStyle/>
          <a:p>
            <a:pPr algn="l"/>
            <a:r>
              <a:rPr sz="1300" b="0">
                <a:solidFill>
                  <a:srgbClr val="FFFFFF"/>
                </a:solidFill>
                <a:latin typeface="Comfortaa"/>
              </a:rPr>
              <a:t>dataquantum  ·  Machine Learning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Fundamentos de ML</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Machine Learning: Sistemas que Aprenden</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El Machine Learning permite a los sistemas aprender patrones de los datos sin ser programados explícitamente. El mercado global de ML alcanzará los 503.000 millones de dólares en 2030 (Grand View Research). Es el motor de la IA aplicada.</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1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Fundamentos de ML</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Tipos de Aprendizaje</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Supervisado: aprende de ejemplos etiquetados (clasificación, regresión). No supervisado: descubre patrones sin etiquetas (clustering, reducción de dimensionalidad). Por refuerzo: aprende por recompensas y penalizaciones (robótica, juegos, agentes).</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2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Fundamentos de ML</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El Pipeline de Machine Learning</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Obtención de datos → Exploración (EDA) → Preprocesamiento → Selección de features → Entrenamiento → Evaluación → Optimización → Despliegue → Monitorización. Cada paso es crítico: basura entra, basura sale.</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3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Fundamentos de ML</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Evaluación de Modelos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Accuracy, Precision, Recall y F1-Score para clasificación. RMSE y MAE para regresión. AUC-ROC para clasificadores binarios. La validación cruzada (k-fold) estima el rendimiento real evitando el sobreajuste al conjunto de test.</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4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Fundamentos de ML</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Ejercicio Práctico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Entrena un modelo de clasificación con scikit-learn para predecir si un cliente cancelará su suscripción (churn): preprocesa los datos, prueba 3 algoritmos, evalúa con validación cruzada y selecciona el mejor modelo.</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5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A74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7315200" cy="548640"/>
          </a:xfrm>
          <a:prstGeom prst="rect">
            <a:avLst/>
          </a:prstGeom>
          <a:noFill/>
        </p:spPr>
        <p:txBody>
          <a:bodyPr wrap="square">
            <a:spAutoFit/>
          </a:bodyPr>
          <a:lstStyle/>
          <a:p>
            <a:pPr algn="l"/>
            <a:r>
              <a:rPr sz="2000" b="1">
                <a:solidFill>
                  <a:srgbClr val="FFFFFF"/>
                </a:solidFill>
                <a:latin typeface="Comfortaa"/>
              </a:rPr>
              <a:t>MÓDULO 2</a:t>
            </a:r>
          </a:p>
        </p:txBody>
      </p:sp>
      <p:sp>
        <p:nvSpPr>
          <p:cNvPr id="4" name="TextBox 3"/>
          <p:cNvSpPr txBox="1"/>
          <p:nvPr/>
        </p:nvSpPr>
        <p:spPr>
          <a:xfrm>
            <a:off x="548640" y="2011680"/>
            <a:ext cx="10515600" cy="1645920"/>
          </a:xfrm>
          <a:prstGeom prst="rect">
            <a:avLst/>
          </a:prstGeom>
          <a:noFill/>
        </p:spPr>
        <p:txBody>
          <a:bodyPr wrap="square">
            <a:spAutoFit/>
          </a:bodyPr>
          <a:lstStyle/>
          <a:p>
            <a:pPr algn="l"/>
            <a:r>
              <a:rPr sz="4000" b="1">
                <a:solidFill>
                  <a:srgbClr val="FFFFFF"/>
                </a:solidFill>
                <a:latin typeface="Comfortaa"/>
              </a:rPr>
              <a:t>Aprendizaje Supervisado</a:t>
            </a:r>
          </a:p>
        </p:txBody>
      </p:sp>
      <p:sp>
        <p:nvSpPr>
          <p:cNvPr id="5" name="TextBox 4"/>
          <p:cNvSpPr txBox="1"/>
          <p:nvPr/>
        </p:nvSpPr>
        <p:spPr>
          <a:xfrm>
            <a:off x="731520" y="3840480"/>
            <a:ext cx="7315200" cy="457200"/>
          </a:xfrm>
          <a:prstGeom prst="rect">
            <a:avLst/>
          </a:prstGeom>
          <a:noFill/>
        </p:spPr>
        <p:txBody>
          <a:bodyPr wrap="square">
            <a:spAutoFit/>
          </a:bodyPr>
          <a:lstStyle/>
          <a:p>
            <a:pPr algn="l"/>
            <a:r>
              <a:rPr sz="1600" b="0">
                <a:solidFill>
                  <a:srgbClr val="FFFFFF"/>
                </a:solidFill>
                <a:latin typeface="Comfortaa"/>
              </a:rPr>
              <a:t>→  Regresión y clasificación</a:t>
            </a:r>
          </a:p>
        </p:txBody>
      </p:sp>
      <p:sp>
        <p:nvSpPr>
          <p:cNvPr id="6" name="TextBox 5"/>
          <p:cNvSpPr txBox="1"/>
          <p:nvPr/>
        </p:nvSpPr>
        <p:spPr>
          <a:xfrm>
            <a:off x="731520" y="4343400"/>
            <a:ext cx="7315200" cy="457200"/>
          </a:xfrm>
          <a:prstGeom prst="rect">
            <a:avLst/>
          </a:prstGeom>
          <a:noFill/>
        </p:spPr>
        <p:txBody>
          <a:bodyPr wrap="square">
            <a:spAutoFit/>
          </a:bodyPr>
          <a:lstStyle/>
          <a:p>
            <a:pPr algn="l"/>
            <a:r>
              <a:rPr sz="1600" b="0">
                <a:solidFill>
                  <a:srgbClr val="FFFFFF"/>
                </a:solidFill>
                <a:latin typeface="Comfortaa"/>
              </a:rPr>
              <a:t>→  Árboles y ensembles</a:t>
            </a:r>
          </a:p>
        </p:txBody>
      </p:sp>
      <p:sp>
        <p:nvSpPr>
          <p:cNvPr id="7" name="TextBox 6"/>
          <p:cNvSpPr txBox="1"/>
          <p:nvPr/>
        </p:nvSpPr>
        <p:spPr>
          <a:xfrm>
            <a:off x="731520" y="4846320"/>
            <a:ext cx="7315200" cy="457200"/>
          </a:xfrm>
          <a:prstGeom prst="rect">
            <a:avLst/>
          </a:prstGeom>
          <a:noFill/>
        </p:spPr>
        <p:txBody>
          <a:bodyPr wrap="square">
            <a:spAutoFit/>
          </a:bodyPr>
          <a:lstStyle/>
          <a:p>
            <a:pPr algn="l"/>
            <a:r>
              <a:rPr sz="1600" b="0">
                <a:solidFill>
                  <a:srgbClr val="FFFFFF"/>
                </a:solidFill>
                <a:latin typeface="Comfortaa"/>
              </a:rPr>
              <a:t>→  SVM y KNN</a:t>
            </a:r>
          </a:p>
        </p:txBody>
      </p:sp>
      <p:sp>
        <p:nvSpPr>
          <p:cNvPr id="8" name="Rectangle 7"/>
          <p:cNvSpPr/>
          <p:nvPr/>
        </p:nvSpPr>
        <p:spPr>
          <a:xfrm>
            <a:off x="0" y="6309360"/>
            <a:ext cx="12188952" cy="5486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327648"/>
            <a:ext cx="10972800" cy="365760"/>
          </a:xfrm>
          <a:prstGeom prst="rect">
            <a:avLst/>
          </a:prstGeom>
          <a:noFill/>
        </p:spPr>
        <p:txBody>
          <a:bodyPr wrap="square">
            <a:spAutoFit/>
          </a:bodyPr>
          <a:lstStyle/>
          <a:p>
            <a:pPr algn="l"/>
            <a:r>
              <a:rPr sz="1300" b="0">
                <a:solidFill>
                  <a:srgbClr val="FFFFFF"/>
                </a:solidFill>
                <a:latin typeface="Comfortaa"/>
              </a:rPr>
              <a:t>dataquantum  ·  Machine Learning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Aprendizaje Supervisado</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Aprendizaje Supervisado: Aprender de Ejemplos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El aprendizaje supervisado es el tipo de ML más usado en la industria. Se entrena con pares (entrada, salida esperada) y aprende a predecir la salida para nuevas entradas. Cubre el 70% de los casos de uso empresariales de ML.</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1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Aprendizaje Supervisado</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Regresión y Clasificación</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La regresión predice valores continuos (precio de una casa, temperatura). La clasificación predice categorías (spam/no spam, diagnóstico médico). Ambas usan el mismo pipeline pero diferentes algoritmos y métricas de evaluación.</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2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Aprendizaje Supervisado</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Árboles de Decisión y Ensembles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Los árboles de decisión son interpretables pero propensos al sobreajuste. Random Forest combina cientos de árboles para mayor robustez. XGBoost y LightGBM son los algoritmos de gradient boosting que dominan las competiciones de Kaggle.</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3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Aprendizaje Supervisado</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Regularización y Sobreajuste</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El sobreajuste ocurre cuando el modelo memoriza los datos de entrenamiento pero no generaliza. L1 (Lasso) y L2 (Ridge) penalizan la complejidad. El dropout en redes neuronales y la poda en árboles son técnicas específicas de cada modelo.</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4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Aprendizaje Supervisado</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Ejercicio Práctico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Compara Random Forest y XGBoost para predecir el precio de viviendas: entrena ambos modelos, optimiza hiperparámetros con GridSearchCV, evalúa con RMSE en validación cruzada y analiza la importancia de las features.</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5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7A74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7315200" cy="548640"/>
          </a:xfrm>
          <a:prstGeom prst="rect">
            <a:avLst/>
          </a:prstGeom>
          <a:noFill/>
        </p:spPr>
        <p:txBody>
          <a:bodyPr wrap="square">
            <a:spAutoFit/>
          </a:bodyPr>
          <a:lstStyle/>
          <a:p>
            <a:pPr algn="l"/>
            <a:r>
              <a:rPr sz="2000" b="1">
                <a:solidFill>
                  <a:srgbClr val="FFFFFF"/>
                </a:solidFill>
                <a:latin typeface="Comfortaa"/>
              </a:rPr>
              <a:t>MÓDULO 3</a:t>
            </a:r>
          </a:p>
        </p:txBody>
      </p:sp>
      <p:sp>
        <p:nvSpPr>
          <p:cNvPr id="4" name="TextBox 3"/>
          <p:cNvSpPr txBox="1"/>
          <p:nvPr/>
        </p:nvSpPr>
        <p:spPr>
          <a:xfrm>
            <a:off x="548640" y="2011680"/>
            <a:ext cx="10515600" cy="1645920"/>
          </a:xfrm>
          <a:prstGeom prst="rect">
            <a:avLst/>
          </a:prstGeom>
          <a:noFill/>
        </p:spPr>
        <p:txBody>
          <a:bodyPr wrap="square">
            <a:spAutoFit/>
          </a:bodyPr>
          <a:lstStyle/>
          <a:p>
            <a:pPr algn="l"/>
            <a:r>
              <a:rPr sz="4000" b="1">
                <a:solidFill>
                  <a:srgbClr val="FFFFFF"/>
                </a:solidFill>
                <a:latin typeface="Comfortaa"/>
              </a:rPr>
              <a:t>Aprendizaje No Supervisado</a:t>
            </a:r>
          </a:p>
        </p:txBody>
      </p:sp>
      <p:sp>
        <p:nvSpPr>
          <p:cNvPr id="5" name="TextBox 4"/>
          <p:cNvSpPr txBox="1"/>
          <p:nvPr/>
        </p:nvSpPr>
        <p:spPr>
          <a:xfrm>
            <a:off x="731520" y="3840480"/>
            <a:ext cx="7315200" cy="457200"/>
          </a:xfrm>
          <a:prstGeom prst="rect">
            <a:avLst/>
          </a:prstGeom>
          <a:noFill/>
        </p:spPr>
        <p:txBody>
          <a:bodyPr wrap="square">
            <a:spAutoFit/>
          </a:bodyPr>
          <a:lstStyle/>
          <a:p>
            <a:pPr algn="l"/>
            <a:r>
              <a:rPr sz="1600" b="0">
                <a:solidFill>
                  <a:srgbClr val="FFFFFF"/>
                </a:solidFill>
                <a:latin typeface="Comfortaa"/>
              </a:rPr>
              <a:t>→  Clustering (K-means, DBSCAN)</a:t>
            </a:r>
          </a:p>
        </p:txBody>
      </p:sp>
      <p:sp>
        <p:nvSpPr>
          <p:cNvPr id="6" name="TextBox 5"/>
          <p:cNvSpPr txBox="1"/>
          <p:nvPr/>
        </p:nvSpPr>
        <p:spPr>
          <a:xfrm>
            <a:off x="731520" y="4343400"/>
            <a:ext cx="7315200" cy="457200"/>
          </a:xfrm>
          <a:prstGeom prst="rect">
            <a:avLst/>
          </a:prstGeom>
          <a:noFill/>
        </p:spPr>
        <p:txBody>
          <a:bodyPr wrap="square">
            <a:spAutoFit/>
          </a:bodyPr>
          <a:lstStyle/>
          <a:p>
            <a:pPr algn="l"/>
            <a:r>
              <a:rPr sz="1600" b="0">
                <a:solidFill>
                  <a:srgbClr val="FFFFFF"/>
                </a:solidFill>
                <a:latin typeface="Comfortaa"/>
              </a:rPr>
              <a:t>→  Reducción de dimensionalidad</a:t>
            </a:r>
          </a:p>
        </p:txBody>
      </p:sp>
      <p:sp>
        <p:nvSpPr>
          <p:cNvPr id="7" name="TextBox 6"/>
          <p:cNvSpPr txBox="1"/>
          <p:nvPr/>
        </p:nvSpPr>
        <p:spPr>
          <a:xfrm>
            <a:off x="731520" y="4846320"/>
            <a:ext cx="7315200" cy="457200"/>
          </a:xfrm>
          <a:prstGeom prst="rect">
            <a:avLst/>
          </a:prstGeom>
          <a:noFill/>
        </p:spPr>
        <p:txBody>
          <a:bodyPr wrap="square">
            <a:spAutoFit/>
          </a:bodyPr>
          <a:lstStyle/>
          <a:p>
            <a:pPr algn="l"/>
            <a:r>
              <a:rPr sz="1600" b="0">
                <a:solidFill>
                  <a:srgbClr val="FFFFFF"/>
                </a:solidFill>
                <a:latin typeface="Comfortaa"/>
              </a:rPr>
              <a:t>→  Detección de anomalías</a:t>
            </a:r>
          </a:p>
        </p:txBody>
      </p:sp>
      <p:sp>
        <p:nvSpPr>
          <p:cNvPr id="8" name="Rectangle 7"/>
          <p:cNvSpPr/>
          <p:nvPr/>
        </p:nvSpPr>
        <p:spPr>
          <a:xfrm>
            <a:off x="0" y="6309360"/>
            <a:ext cx="12188952" cy="5486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327648"/>
            <a:ext cx="10972800" cy="365760"/>
          </a:xfrm>
          <a:prstGeom prst="rect">
            <a:avLst/>
          </a:prstGeom>
          <a:noFill/>
        </p:spPr>
        <p:txBody>
          <a:bodyPr wrap="square">
            <a:spAutoFit/>
          </a:bodyPr>
          <a:lstStyle/>
          <a:p>
            <a:pPr algn="l"/>
            <a:r>
              <a:rPr sz="1300" b="0">
                <a:solidFill>
                  <a:srgbClr val="FFFFFF"/>
                </a:solidFill>
                <a:latin typeface="Comfortaa"/>
              </a:rPr>
              <a:t>dataquantum  ·  Machine Learning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Aprendizaje No Supervisado</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Aprendizaje No Supervisado: Descubrir Patrones Ocultos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El aprendizaje no supervisado encuentra estructura en datos sin etiquetas. Es clave para segmentación de clientes, detección de anomalías, compresión de datos y como paso previo al aprendizaje supervisado en pipelines de ML.</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1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Aprendizaje No Supervisado</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Clustering: K-means y DBSCAN</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K-means agrupa datos en K clusters minimizando la distancia intra-cluster. Requiere especificar K y asume clusters esféricos. DBSCAN detecta clusters de forma arbitraria y marca como ruido los puntos aislados, ideal para detección de anomalías.</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2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Aprendizaje No Supervisado</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Reducción de Dimensionalidad</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PCA (Principal Component Analysis) proyecta datos a dimensiones de mayor varianza, reduciendo el ruido y la maldición de la dimensionalidad. t-SNE y UMAP son ideales para visualización de datos de alta dimensión en 2D o 3D.</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3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Aprendizaje No Supervisado</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Detección de Anomalías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Isolation Forest aísla anomalías con árboles aleatorios. Autoencoder detecta anomalías por el error de reconstrucción. One-Class SVM aprende la frontera de los datos normales. Son la base de los sistemas de detección de fraude y fallos.</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4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Aprendizaje No Supervisado</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Ejercicio Práctico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Aplica K-means para segmentar clientes de un e-commerce usando RFM (Recency, Frequency, Monetary): preprocesa con StandardScaler, determina el K óptimo con el método del codo, interpreta los segmentos y propón estrategias de marketing.</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5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2060"/>
        </a:solidFill>
        <a:effectLst/>
      </p:bgPr>
    </p:bg>
    <p:spTree>
      <p:nvGrpSpPr>
        <p:cNvPr id="1" name=""/>
        <p:cNvGrpSpPr/>
        <p:nvPr/>
      </p:nvGrpSpPr>
      <p:grpSpPr/>
      <p:sp>
        <p:nvSpPr>
          <p:cNvPr id="2" name="Rectangle 1"/>
          <p:cNvSpPr/>
          <p:nvPr/>
        </p:nvSpPr>
        <p:spPr>
          <a:xfrm>
            <a:off x="0" y="5852160"/>
            <a:ext cx="12188952" cy="100584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1828800"/>
            <a:ext cx="12188952" cy="1097280"/>
          </a:xfrm>
          <a:prstGeom prst="rect">
            <a:avLst/>
          </a:prstGeom>
          <a:noFill/>
        </p:spPr>
        <p:txBody>
          <a:bodyPr wrap="square">
            <a:spAutoFit/>
          </a:bodyPr>
          <a:lstStyle/>
          <a:p>
            <a:pPr algn="ctr"/>
            <a:r>
              <a:rPr sz="4200" b="1">
                <a:solidFill>
                  <a:srgbClr val="FFFFFF"/>
                </a:solidFill>
                <a:latin typeface="Comfortaa"/>
              </a:rPr>
              <a:t>¡Sigue aprendiendo!</a:t>
            </a:r>
          </a:p>
        </p:txBody>
      </p:sp>
      <p:sp>
        <p:nvSpPr>
          <p:cNvPr id="4" name="TextBox 3"/>
          <p:cNvSpPr txBox="1"/>
          <p:nvPr/>
        </p:nvSpPr>
        <p:spPr>
          <a:xfrm>
            <a:off x="0" y="3017520"/>
            <a:ext cx="12188952" cy="640080"/>
          </a:xfrm>
          <a:prstGeom prst="rect">
            <a:avLst/>
          </a:prstGeom>
          <a:noFill/>
        </p:spPr>
        <p:txBody>
          <a:bodyPr wrap="square">
            <a:spAutoFit/>
          </a:bodyPr>
          <a:lstStyle/>
          <a:p>
            <a:pPr algn="ctr"/>
            <a:r>
              <a:rPr sz="2200" b="0">
                <a:solidFill>
                  <a:srgbClr val="07A74F"/>
                </a:solidFill>
                <a:latin typeface="Comfortaa"/>
              </a:rPr>
              <a:t>Machine Learning</a:t>
            </a:r>
          </a:p>
        </p:txBody>
      </p:sp>
      <p:sp>
        <p:nvSpPr>
          <p:cNvPr id="5" name="TextBox 4"/>
          <p:cNvSpPr txBox="1"/>
          <p:nvPr/>
        </p:nvSpPr>
        <p:spPr>
          <a:xfrm>
            <a:off x="0" y="5897880"/>
            <a:ext cx="12188952" cy="548640"/>
          </a:xfrm>
          <a:prstGeom prst="rect">
            <a:avLst/>
          </a:prstGeom>
          <a:noFill/>
        </p:spPr>
        <p:txBody>
          <a:bodyPr wrap="square">
            <a:spAutoFit/>
          </a:bodyPr>
          <a:lstStyle/>
          <a:p>
            <a:pPr algn="ctr"/>
            <a:r>
              <a:rPr sz="1800" b="1">
                <a:solidFill>
                  <a:srgbClr val="FFFFFF"/>
                </a:solidFill>
                <a:latin typeface="Comfortaa"/>
              </a:rPr>
              <a:t>dataquantum Learning Platform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