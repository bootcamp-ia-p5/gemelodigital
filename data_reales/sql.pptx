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7315200" cy="457200"/>
          </a:xfrm>
          <a:prstGeom prst="rect">
            <a:avLst/>
          </a:prstGeom>
          <a:noFill/>
        </p:spPr>
        <p:txBody>
          <a:bodyPr wrap="square">
            <a:spAutoFit/>
          </a:bodyPr>
          <a:lstStyle/>
          <a:p>
            <a:pPr algn="l"/>
            <a:r>
              <a:rPr sz="1300" b="0">
                <a:solidFill>
                  <a:srgbClr val="07A74F"/>
                </a:solidFill>
                <a:latin typeface="Comfortaa"/>
              </a:rPr>
              <a:t>DATOS</a:t>
            </a:r>
          </a:p>
        </p:txBody>
      </p:sp>
      <p:sp>
        <p:nvSpPr>
          <p:cNvPr id="5" name="TextBox 4"/>
          <p:cNvSpPr txBox="1"/>
          <p:nvPr/>
        </p:nvSpPr>
        <p:spPr>
          <a:xfrm>
            <a:off x="548640" y="1645920"/>
            <a:ext cx="10515600" cy="1828800"/>
          </a:xfrm>
          <a:prstGeom prst="rect">
            <a:avLst/>
          </a:prstGeom>
          <a:noFill/>
        </p:spPr>
        <p:txBody>
          <a:bodyPr wrap="square">
            <a:spAutoFit/>
          </a:bodyPr>
          <a:lstStyle/>
          <a:p>
            <a:pPr algn="l"/>
            <a:r>
              <a:rPr sz="4600" b="1">
                <a:solidFill>
                  <a:srgbClr val="FFFFFF"/>
                </a:solidFill>
                <a:latin typeface="Comfortaa"/>
              </a:rPr>
              <a:t>Bases de Datos SQL</a:t>
            </a:r>
          </a:p>
        </p:txBody>
      </p:sp>
      <p:sp>
        <p:nvSpPr>
          <p:cNvPr id="6" name="TextBox 5"/>
          <p:cNvSpPr txBox="1"/>
          <p:nvPr/>
        </p:nvSpPr>
        <p:spPr>
          <a:xfrm>
            <a:off x="548640" y="3566160"/>
            <a:ext cx="8686800" cy="914400"/>
          </a:xfrm>
          <a:prstGeom prst="rect">
            <a:avLst/>
          </a:prstGeom>
          <a:noFill/>
        </p:spPr>
        <p:txBody>
          <a:bodyPr wrap="square">
            <a:spAutoFit/>
          </a:bodyPr>
          <a:lstStyle/>
          <a:p>
            <a:pPr algn="l"/>
            <a:r>
              <a:rPr sz="1800" b="0">
                <a:solidFill>
                  <a:srgbClr val="CCDDFF"/>
                </a:solidFill>
                <a:latin typeface="Comfortaa"/>
              </a:rPr>
              <a:t>Diseño de esquemas, consultas complejas y optimización de bases de datos relacionales.</a:t>
            </a:r>
          </a:p>
        </p:txBody>
      </p:sp>
      <p:sp>
        <p:nvSpPr>
          <p:cNvPr id="7" name="TextBox 6"/>
          <p:cNvSpPr txBox="1"/>
          <p:nvPr/>
        </p:nvSpPr>
        <p:spPr>
          <a:xfrm>
            <a:off x="548640" y="4572000"/>
            <a:ext cx="4572000" cy="457200"/>
          </a:xfrm>
          <a:prstGeom prst="rect">
            <a:avLst/>
          </a:prstGeom>
          <a:noFill/>
        </p:spPr>
        <p:txBody>
          <a:bodyPr wrap="square">
            <a:spAutoFit/>
          </a:bodyPr>
          <a:lstStyle/>
          <a:p>
            <a:pPr algn="l"/>
            <a:r>
              <a:rPr sz="1500" b="0">
                <a:solidFill>
                  <a:srgbClr val="FF8C00"/>
                </a:solidFill>
                <a:latin typeface="Comfortaa"/>
              </a:rPr>
              <a:t>Nivel: Inicial-Intermedio</a:t>
            </a:r>
          </a:p>
        </p:txBody>
      </p:sp>
      <p:sp>
        <p:nvSpPr>
          <p:cNvPr id="8" name="TextBox 7"/>
          <p:cNvSpPr txBox="1"/>
          <p:nvPr/>
        </p:nvSpPr>
        <p:spPr>
          <a:xfrm>
            <a:off x="8686800" y="6263640"/>
            <a:ext cx="3200400" cy="457200"/>
          </a:xfrm>
          <a:prstGeom prst="rect">
            <a:avLst/>
          </a:prstGeom>
          <a:noFill/>
        </p:spPr>
        <p:txBody>
          <a:bodyPr wrap="square">
            <a:spAutoFit/>
          </a:bodyPr>
          <a:lstStyle/>
          <a:p>
            <a:pPr algn="r"/>
            <a:r>
              <a:rPr sz="1600" b="1">
                <a:solidFill>
                  <a:srgbClr val="FFFFFF"/>
                </a:solidFill>
                <a:latin typeface="Comfortaa"/>
              </a:rPr>
              <a:t>dataquantum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9144000" cy="822960"/>
          </a:xfrm>
          <a:prstGeom prst="rect">
            <a:avLst/>
          </a:prstGeom>
          <a:noFill/>
        </p:spPr>
        <p:txBody>
          <a:bodyPr wrap="square">
            <a:spAutoFit/>
          </a:bodyPr>
          <a:lstStyle/>
          <a:p>
            <a:pPr algn="l"/>
            <a:r>
              <a:rPr sz="3000" b="1">
                <a:solidFill>
                  <a:srgbClr val="FFFFFF"/>
                </a:solidFill>
                <a:latin typeface="Comfortaa"/>
              </a:rPr>
              <a:t>Índice de Módulos</a:t>
            </a:r>
          </a:p>
        </p:txBody>
      </p:sp>
      <p:sp>
        <p:nvSpPr>
          <p:cNvPr id="4" name="TextBox 3"/>
          <p:cNvSpPr txBox="1"/>
          <p:nvPr/>
        </p:nvSpPr>
        <p:spPr>
          <a:xfrm>
            <a:off x="457200" y="868680"/>
            <a:ext cx="9144000" cy="411480"/>
          </a:xfrm>
          <a:prstGeom prst="rect">
            <a:avLst/>
          </a:prstGeom>
          <a:noFill/>
        </p:spPr>
        <p:txBody>
          <a:bodyPr wrap="square">
            <a:spAutoFit/>
          </a:bodyPr>
          <a:lstStyle/>
          <a:p>
            <a:pPr algn="l"/>
            <a:r>
              <a:rPr sz="1400" b="0">
                <a:solidFill>
                  <a:srgbClr val="07A74F"/>
                </a:solidFill>
                <a:latin typeface="Comfortaa"/>
              </a:rPr>
              <a:t>Bases de Datos SQL</a:t>
            </a:r>
          </a:p>
        </p:txBody>
      </p:sp>
      <p:sp>
        <p:nvSpPr>
          <p:cNvPr id="5" name="Rectangle 4"/>
          <p:cNvSpPr/>
          <p:nvPr/>
        </p:nvSpPr>
        <p:spPr>
          <a:xfrm>
            <a:off x="0" y="1280160"/>
            <a:ext cx="12188952" cy="54864"/>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02920"/>
          </a:xfrm>
          <a:prstGeom prst="rect">
            <a:avLst/>
          </a:prstGeom>
          <a:noFill/>
        </p:spPr>
        <p:txBody>
          <a:bodyPr wrap="square">
            <a:spAutoFit/>
          </a:bodyPr>
          <a:lstStyle/>
          <a:p>
            <a:pPr algn="ctr"/>
            <a:r>
              <a:rPr sz="1800" b="1">
                <a:solidFill>
                  <a:srgbClr val="FFFFFF"/>
                </a:solidFill>
                <a:latin typeface="Comfortaa"/>
              </a:rPr>
              <a:t>1</a:t>
            </a:r>
          </a:p>
        </p:txBody>
      </p:sp>
      <p:sp>
        <p:nvSpPr>
          <p:cNvPr id="8" name="TextBox 7"/>
          <p:cNvSpPr txBox="1"/>
          <p:nvPr/>
        </p:nvSpPr>
        <p:spPr>
          <a:xfrm>
            <a:off x="1005840" y="1536192"/>
            <a:ext cx="5029200" cy="457200"/>
          </a:xfrm>
          <a:prstGeom prst="rect">
            <a:avLst/>
          </a:prstGeom>
          <a:noFill/>
        </p:spPr>
        <p:txBody>
          <a:bodyPr wrap="square">
            <a:spAutoFit/>
          </a:bodyPr>
          <a:lstStyle/>
          <a:p>
            <a:pPr algn="l"/>
            <a:r>
              <a:rPr sz="1700" b="1">
                <a:solidFill>
                  <a:srgbClr val="002060"/>
                </a:solidFill>
                <a:latin typeface="Comfortaa"/>
              </a:rPr>
              <a:t>Fundamentos de SQL</a:t>
            </a:r>
          </a:p>
        </p:txBody>
      </p:sp>
      <p:sp>
        <p:nvSpPr>
          <p:cNvPr id="9" name="TextBox 8"/>
          <p:cNvSpPr txBox="1"/>
          <p:nvPr/>
        </p:nvSpPr>
        <p:spPr>
          <a:xfrm>
            <a:off x="1005840" y="1965960"/>
            <a:ext cx="10515600" cy="411480"/>
          </a:xfrm>
          <a:prstGeom prst="rect">
            <a:avLst/>
          </a:prstGeom>
          <a:noFill/>
        </p:spPr>
        <p:txBody>
          <a:bodyPr wrap="square">
            <a:spAutoFit/>
          </a:bodyPr>
          <a:lstStyle/>
          <a:p>
            <a:pPr algn="l"/>
            <a:r>
              <a:rPr sz="1200" b="0">
                <a:solidFill>
                  <a:srgbClr val="444444"/>
                </a:solidFill>
                <a:latin typeface="Comfortaa"/>
              </a:rPr>
              <a:t>SELECT, FROM, WHERE  ·  JOINs y subconsultas  ·  Funciones de agregación</a:t>
            </a:r>
          </a:p>
        </p:txBody>
      </p:sp>
      <p:sp>
        <p:nvSpPr>
          <p:cNvPr id="10" name="Rectangle 9"/>
          <p:cNvSpPr/>
          <p:nvPr/>
        </p:nvSpPr>
        <p:spPr>
          <a:xfrm>
            <a:off x="365760" y="246888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68880"/>
            <a:ext cx="502920" cy="502920"/>
          </a:xfrm>
          <a:prstGeom prst="rect">
            <a:avLst/>
          </a:prstGeom>
          <a:noFill/>
        </p:spPr>
        <p:txBody>
          <a:bodyPr wrap="square">
            <a:spAutoFit/>
          </a:bodyPr>
          <a:lstStyle/>
          <a:p>
            <a:pPr algn="ctr"/>
            <a:r>
              <a:rPr sz="1800" b="1">
                <a:solidFill>
                  <a:srgbClr val="FFFFFF"/>
                </a:solidFill>
                <a:latin typeface="Comfortaa"/>
              </a:rPr>
              <a:t>2</a:t>
            </a:r>
          </a:p>
        </p:txBody>
      </p:sp>
      <p:sp>
        <p:nvSpPr>
          <p:cNvPr id="12" name="TextBox 11"/>
          <p:cNvSpPr txBox="1"/>
          <p:nvPr/>
        </p:nvSpPr>
        <p:spPr>
          <a:xfrm>
            <a:off x="1005840" y="2496312"/>
            <a:ext cx="5029200" cy="457200"/>
          </a:xfrm>
          <a:prstGeom prst="rect">
            <a:avLst/>
          </a:prstGeom>
          <a:noFill/>
        </p:spPr>
        <p:txBody>
          <a:bodyPr wrap="square">
            <a:spAutoFit/>
          </a:bodyPr>
          <a:lstStyle/>
          <a:p>
            <a:pPr algn="l"/>
            <a:r>
              <a:rPr sz="1700" b="1">
                <a:solidFill>
                  <a:srgbClr val="002060"/>
                </a:solidFill>
                <a:latin typeface="Comfortaa"/>
              </a:rPr>
              <a:t>Diseño de Bases de Datos</a:t>
            </a:r>
          </a:p>
        </p:txBody>
      </p:sp>
      <p:sp>
        <p:nvSpPr>
          <p:cNvPr id="13" name="TextBox 12"/>
          <p:cNvSpPr txBox="1"/>
          <p:nvPr/>
        </p:nvSpPr>
        <p:spPr>
          <a:xfrm>
            <a:off x="1005840" y="2926080"/>
            <a:ext cx="10515600" cy="411480"/>
          </a:xfrm>
          <a:prstGeom prst="rect">
            <a:avLst/>
          </a:prstGeom>
          <a:noFill/>
        </p:spPr>
        <p:txBody>
          <a:bodyPr wrap="square">
            <a:spAutoFit/>
          </a:bodyPr>
          <a:lstStyle/>
          <a:p>
            <a:pPr algn="l"/>
            <a:r>
              <a:rPr sz="1200" b="0">
                <a:solidFill>
                  <a:srgbClr val="444444"/>
                </a:solidFill>
                <a:latin typeface="Comfortaa"/>
              </a:rPr>
              <a:t>Modelo entidad-relación  ·  Normalización (1FN, 2FN, 3FN)  ·  Claves primarias y foráneas</a:t>
            </a:r>
          </a:p>
        </p:txBody>
      </p:sp>
      <p:sp>
        <p:nvSpPr>
          <p:cNvPr id="14" name="Rectangle 13"/>
          <p:cNvSpPr/>
          <p:nvPr/>
        </p:nvSpPr>
        <p:spPr>
          <a:xfrm>
            <a:off x="365760" y="342900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502920" cy="502920"/>
          </a:xfrm>
          <a:prstGeom prst="rect">
            <a:avLst/>
          </a:prstGeom>
          <a:noFill/>
        </p:spPr>
        <p:txBody>
          <a:bodyPr wrap="square">
            <a:spAutoFit/>
          </a:bodyPr>
          <a:lstStyle/>
          <a:p>
            <a:pPr algn="ctr"/>
            <a:r>
              <a:rPr sz="1800" b="1">
                <a:solidFill>
                  <a:srgbClr val="FFFFFF"/>
                </a:solidFill>
                <a:latin typeface="Comfortaa"/>
              </a:rPr>
              <a:t>3</a:t>
            </a:r>
          </a:p>
        </p:txBody>
      </p:sp>
      <p:sp>
        <p:nvSpPr>
          <p:cNvPr id="16" name="TextBox 15"/>
          <p:cNvSpPr txBox="1"/>
          <p:nvPr/>
        </p:nvSpPr>
        <p:spPr>
          <a:xfrm>
            <a:off x="1005840" y="3456432"/>
            <a:ext cx="5029200" cy="457200"/>
          </a:xfrm>
          <a:prstGeom prst="rect">
            <a:avLst/>
          </a:prstGeom>
          <a:noFill/>
        </p:spPr>
        <p:txBody>
          <a:bodyPr wrap="square">
            <a:spAutoFit/>
          </a:bodyPr>
          <a:lstStyle/>
          <a:p>
            <a:pPr algn="l"/>
            <a:r>
              <a:rPr sz="1700" b="1">
                <a:solidFill>
                  <a:srgbClr val="002060"/>
                </a:solidFill>
                <a:latin typeface="Comfortaa"/>
              </a:rPr>
              <a:t>SQL Avanzado</a:t>
            </a:r>
          </a:p>
        </p:txBody>
      </p:sp>
      <p:sp>
        <p:nvSpPr>
          <p:cNvPr id="17" name="TextBox 16"/>
          <p:cNvSpPr txBox="1"/>
          <p:nvPr/>
        </p:nvSpPr>
        <p:spPr>
          <a:xfrm>
            <a:off x="1005840" y="3886200"/>
            <a:ext cx="10515600" cy="411480"/>
          </a:xfrm>
          <a:prstGeom prst="rect">
            <a:avLst/>
          </a:prstGeom>
          <a:noFill/>
        </p:spPr>
        <p:txBody>
          <a:bodyPr wrap="square">
            <a:spAutoFit/>
          </a:bodyPr>
          <a:lstStyle/>
          <a:p>
            <a:pPr algn="l"/>
            <a:r>
              <a:rPr sz="1200" b="0">
                <a:solidFill>
                  <a:srgbClr val="444444"/>
                </a:solidFill>
                <a:latin typeface="Comfortaa"/>
              </a:rPr>
              <a:t>Window functions  ·  CTEs y consultas recursivas  ·  Procedimientos almacenados</a:t>
            </a:r>
          </a:p>
        </p:txBody>
      </p:sp>
      <p:sp>
        <p:nvSpPr>
          <p:cNvPr id="18" name="Rectangle 17"/>
          <p:cNvSpPr/>
          <p:nvPr/>
        </p:nvSpPr>
        <p:spPr>
          <a:xfrm>
            <a:off x="365760" y="438912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89120"/>
            <a:ext cx="502920" cy="502920"/>
          </a:xfrm>
          <a:prstGeom prst="rect">
            <a:avLst/>
          </a:prstGeom>
          <a:noFill/>
        </p:spPr>
        <p:txBody>
          <a:bodyPr wrap="square">
            <a:spAutoFit/>
          </a:bodyPr>
          <a:lstStyle/>
          <a:p>
            <a:pPr algn="ctr"/>
            <a:r>
              <a:rPr sz="1800" b="1">
                <a:solidFill>
                  <a:srgbClr val="FFFFFF"/>
                </a:solidFill>
                <a:latin typeface="Comfortaa"/>
              </a:rPr>
              <a:t>4</a:t>
            </a:r>
          </a:p>
        </p:txBody>
      </p:sp>
      <p:sp>
        <p:nvSpPr>
          <p:cNvPr id="20" name="TextBox 19"/>
          <p:cNvSpPr txBox="1"/>
          <p:nvPr/>
        </p:nvSpPr>
        <p:spPr>
          <a:xfrm>
            <a:off x="1005840" y="4416552"/>
            <a:ext cx="5029200" cy="457200"/>
          </a:xfrm>
          <a:prstGeom prst="rect">
            <a:avLst/>
          </a:prstGeom>
          <a:noFill/>
        </p:spPr>
        <p:txBody>
          <a:bodyPr wrap="square">
            <a:spAutoFit/>
          </a:bodyPr>
          <a:lstStyle/>
          <a:p>
            <a:pPr algn="l"/>
            <a:r>
              <a:rPr sz="1700" b="1">
                <a:solidFill>
                  <a:srgbClr val="002060"/>
                </a:solidFill>
                <a:latin typeface="Comfortaa"/>
              </a:rPr>
              <a:t>Optimización</a:t>
            </a:r>
          </a:p>
        </p:txBody>
      </p:sp>
      <p:sp>
        <p:nvSpPr>
          <p:cNvPr id="21" name="TextBox 20"/>
          <p:cNvSpPr txBox="1"/>
          <p:nvPr/>
        </p:nvSpPr>
        <p:spPr>
          <a:xfrm>
            <a:off x="1005840" y="4846320"/>
            <a:ext cx="10515600" cy="411480"/>
          </a:xfrm>
          <a:prstGeom prst="rect">
            <a:avLst/>
          </a:prstGeom>
          <a:noFill/>
        </p:spPr>
        <p:txBody>
          <a:bodyPr wrap="square">
            <a:spAutoFit/>
          </a:bodyPr>
          <a:lstStyle/>
          <a:p>
            <a:pPr algn="l"/>
            <a:r>
              <a:rPr sz="1200" b="0">
                <a:solidFill>
                  <a:srgbClr val="444444"/>
                </a:solidFill>
                <a:latin typeface="Comfortaa"/>
              </a:rPr>
              <a:t>Índices y planes de ejecución  ·  Query optimization  ·  Particionamiento</a:t>
            </a:r>
          </a:p>
        </p:txBody>
      </p:sp>
      <p:sp>
        <p:nvSpPr>
          <p:cNvPr id="22" name="Rectangle 21"/>
          <p:cNvSpPr/>
          <p:nvPr/>
        </p:nvSpPr>
        <p:spPr>
          <a:xfrm>
            <a:off x="365760" y="534924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349240"/>
            <a:ext cx="502920" cy="502920"/>
          </a:xfrm>
          <a:prstGeom prst="rect">
            <a:avLst/>
          </a:prstGeom>
          <a:noFill/>
        </p:spPr>
        <p:txBody>
          <a:bodyPr wrap="square">
            <a:spAutoFit/>
          </a:bodyPr>
          <a:lstStyle/>
          <a:p>
            <a:pPr algn="ctr"/>
            <a:r>
              <a:rPr sz="1800" b="1">
                <a:solidFill>
                  <a:srgbClr val="FFFFFF"/>
                </a:solidFill>
                <a:latin typeface="Comfortaa"/>
              </a:rPr>
              <a:t>5</a:t>
            </a:r>
          </a:p>
        </p:txBody>
      </p:sp>
      <p:sp>
        <p:nvSpPr>
          <p:cNvPr id="24" name="TextBox 23"/>
          <p:cNvSpPr txBox="1"/>
          <p:nvPr/>
        </p:nvSpPr>
        <p:spPr>
          <a:xfrm>
            <a:off x="1005840" y="5376672"/>
            <a:ext cx="5029200" cy="457200"/>
          </a:xfrm>
          <a:prstGeom prst="rect">
            <a:avLst/>
          </a:prstGeom>
          <a:noFill/>
        </p:spPr>
        <p:txBody>
          <a:bodyPr wrap="square">
            <a:spAutoFit/>
          </a:bodyPr>
          <a:lstStyle/>
          <a:p>
            <a:pPr algn="l"/>
            <a:r>
              <a:rPr sz="1700" b="1">
                <a:solidFill>
                  <a:srgbClr val="002060"/>
                </a:solidFill>
                <a:latin typeface="Comfortaa"/>
              </a:rPr>
              <a:t>SQL en Producción</a:t>
            </a:r>
          </a:p>
        </p:txBody>
      </p:sp>
      <p:sp>
        <p:nvSpPr>
          <p:cNvPr id="25" name="TextBox 24"/>
          <p:cNvSpPr txBox="1"/>
          <p:nvPr/>
        </p:nvSpPr>
        <p:spPr>
          <a:xfrm>
            <a:off x="1005840" y="5806440"/>
            <a:ext cx="10515600" cy="411480"/>
          </a:xfrm>
          <a:prstGeom prst="rect">
            <a:avLst/>
          </a:prstGeom>
          <a:noFill/>
        </p:spPr>
        <p:txBody>
          <a:bodyPr wrap="square">
            <a:spAutoFit/>
          </a:bodyPr>
          <a:lstStyle/>
          <a:p>
            <a:pPr algn="l"/>
            <a:r>
              <a:rPr sz="1200" b="0">
                <a:solidFill>
                  <a:srgbClr val="444444"/>
                </a:solidFill>
                <a:latin typeface="Comfortaa"/>
              </a:rPr>
              <a:t>Transacciones y ACID  ·  Backup y recuperación  ·  PostgreSQL vs MySQL</a:t>
            </a:r>
          </a:p>
        </p:txBody>
      </p:sp>
      <p:sp>
        <p:nvSpPr>
          <p:cNvPr id="26" name="Rectangle 25"/>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1</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Fundamentos de SQL</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SELECT, FROM, WHERE</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JOINs y subconsultas</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Funciones de agregación</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Bases de Datos SQL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SQL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SQL: El Lenguaje Universal de los Datos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SQL (Structured Query Language) lleva más de 50 años siendo el estándar para interactuar con bases de datos relacionales. Es el lenguaje más demandado en roles de datos, backend y análisis según LinkedIn Jobs 2024.</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SQL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SELECT, FROM, WHERE</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SELECT especifica las columnas a recuperar. FROM indica la tabla. WHERE filtra filas. ORDER BY ordena resultados. LIMIT restringe la cantidad. GROUP BY agrupa filas. HAVING filtra grupos. Estos 7 comandos cubren el 80% de las consultas.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SQL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JOINs: Combinando Tablas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INNER JOIN devuelve filas con coincidencia en ambas tablas. LEFT JOIN incluye todas las filas de la izquierda. RIGHT JOIN de la derecha. FULL OUTER JOIN todas. CROSS JOIN el producto cartesiano. Los JOINs son la esencia del modelo relacional.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SQL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Funciones de Agregación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COUNT(), SUM(), AVG(), MIN() y MAX() calculan métricas sobre grupos de filas. Con GROUP BY se calculan por categoría. HAVING filtra los grupos resultantes. Son la base de cualquier informe o dashboard analítico.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SQL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Escribe consultas SQL sobre una base de datos de e-commerce: total de ventas por categoría, top 10 clientes por gasto, productos sin ventas en los últimos 30 días y evolución mensual de ingresos con JOINs y GROUP BY.</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2</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Diseño de Bases de Datos</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Modelo entidad-relación</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Normalización (1FN, 2FN, 3FN)</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Claves primarias y foráneas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Bases de Datos SQL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Diseño de Bases de Datos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Diseño de Bases de Datos Relacionales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Un buen diseño de base de datos es la diferencia entre un sistema que escala y uno que colapsa. La normalización elimina redundancias. Las claves foráneas garantizan la integridad referencial. El modelo ER visualiza las relaciones.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Diseño de Bases de Datos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Modelo Entidad-Relación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modelo ER representa entidades (tablas), atributos (columnas) y relaciones (claves foráneas). Las cardinalidades (1:1, 1:N, N:M) definen cómo se relacionan las entidades. Es el plano del arquitecto de datos.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Diseño de Bases de Datos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Normalización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1FN elimina grupos repetitivos. La 2FN elimina dependencias parciales. La 3FN elimina dependencias transitivas. La normalización reduce la redundancia y las anomalías de inserción, actualización y eliminación.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Diseño de Bases de Datos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Claves Primarias y Foráneas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clave primaria identifica unívocamente cada fila. La clave foránea referencia la primaria de otra tabla, garantizando la integridad referencial. ON DELETE CASCADE y ON UPDATE CASCADE gestionan las actualizaciones en cascada.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Diseño de Bases de Datos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Diseña el esquema de base de datos para una plataforma de e-learning: identifica las entidades, define las relaciones y cardinalidades, normaliza hasta 3FN y crea el DDL completo con restricciones de integridad.</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3</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SQL Avanzado</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Window functions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CTEs y consultas recursivas</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Procedimientos almacenados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Bases de Datos SQL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SQL Avanzado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SQL Avanzado: Más Allá del SELECT Básico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Las window functions, CTEs y procedimientos almacenados elevan SQL de un lenguaje de consulta a una herramienta de análisis y procesamiento de datos de alto nivel, capaz de resolver problemas complejos en una sola consulta.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SQL Avanzado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Window Functions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Las window functions calculan valores sobre un conjunto de filas relacionadas con la fila actual sin agruparlas. ROW_NUMBER(), RANK(), DENSE_RANK(), LAG(), LEAD(), SUM() OVER() y AVG() OVER() son las más usadas en análisis de datos.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SQL Avanzado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CTEs: Common Table Expressions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Las CTEs (WITH nombre AS (...)) crean subconsultas nombradas y reutilizables que mejoran la legibilidad. Las CTEs recursivas permiten consultas jerárquicas: árboles de categorías, organigramas, rutas en grafos.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SQL Avanzado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Procedimientos Almacenados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procedimientos almacenados encapsulan lógica SQL reutilizable en la base de datos. Reducen el tráfico de red, centralizan la lógica de negocio y pueden mejorar el rendimiento con planes de ejecución precompilados.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SQL Avanzado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Escribe una consulta con window functions que calcule el ranking de ventas por vendedor dentro de cada región, el porcentaje sobre el total regional y la diferencia con el mes anterior usando LAG().</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5852160"/>
            <a:ext cx="12188952"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88952" cy="1097280"/>
          </a:xfrm>
          <a:prstGeom prst="rect">
            <a:avLst/>
          </a:prstGeom>
          <a:noFill/>
        </p:spPr>
        <p:txBody>
          <a:bodyPr wrap="square">
            <a:spAutoFit/>
          </a:bodyPr>
          <a:lstStyle/>
          <a:p>
            <a:pPr algn="ctr"/>
            <a:r>
              <a:rPr sz="4200" b="1">
                <a:solidFill>
                  <a:srgbClr val="FFFFFF"/>
                </a:solidFill>
                <a:latin typeface="Comfortaa"/>
              </a:rPr>
              <a:t>¡Sigue aprendiendo!</a:t>
            </a:r>
          </a:p>
        </p:txBody>
      </p:sp>
      <p:sp>
        <p:nvSpPr>
          <p:cNvPr id="4" name="TextBox 3"/>
          <p:cNvSpPr txBox="1"/>
          <p:nvPr/>
        </p:nvSpPr>
        <p:spPr>
          <a:xfrm>
            <a:off x="0" y="3017520"/>
            <a:ext cx="12188952" cy="640080"/>
          </a:xfrm>
          <a:prstGeom prst="rect">
            <a:avLst/>
          </a:prstGeom>
          <a:noFill/>
        </p:spPr>
        <p:txBody>
          <a:bodyPr wrap="square">
            <a:spAutoFit/>
          </a:bodyPr>
          <a:lstStyle/>
          <a:p>
            <a:pPr algn="ctr"/>
            <a:r>
              <a:rPr sz="2200" b="0">
                <a:solidFill>
                  <a:srgbClr val="07A74F"/>
                </a:solidFill>
                <a:latin typeface="Comfortaa"/>
              </a:rPr>
              <a:t>Bases de Datos SQL</a:t>
            </a:r>
          </a:p>
        </p:txBody>
      </p:sp>
      <p:sp>
        <p:nvSpPr>
          <p:cNvPr id="5" name="TextBox 4"/>
          <p:cNvSpPr txBox="1"/>
          <p:nvPr/>
        </p:nvSpPr>
        <p:spPr>
          <a:xfrm>
            <a:off x="0" y="5897880"/>
            <a:ext cx="12188952" cy="548640"/>
          </a:xfrm>
          <a:prstGeom prst="rect">
            <a:avLst/>
          </a:prstGeom>
          <a:noFill/>
        </p:spPr>
        <p:txBody>
          <a:bodyPr wrap="square">
            <a:spAutoFit/>
          </a:bodyPr>
          <a:lstStyle/>
          <a:p>
            <a:pPr algn="ctr"/>
            <a:r>
              <a:rPr sz="1800" b="1">
                <a:solidFill>
                  <a:srgbClr val="FFFFFF"/>
                </a:solidFill>
                <a:latin typeface="Comfortaa"/>
              </a:rPr>
              <a:t>dataquantum Learning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