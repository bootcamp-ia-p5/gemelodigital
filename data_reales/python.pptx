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7A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217920"/>
            <a:ext cx="12188952" cy="64008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7A74F"/>
                </a:solidFill>
                <a:latin typeface="Comfortaa"/>
              </a:rPr>
              <a:t>PROGRAMACIÓN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4592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>
                <a:solidFill>
                  <a:srgbClr val="FFFFFF"/>
                </a:solidFill>
                <a:latin typeface="Comfortaa"/>
              </a:rPr>
              <a:t>Python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566160"/>
            <a:ext cx="8686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CCDDFF"/>
                </a:solidFill>
                <a:latin typeface="Comfortaa"/>
              </a:rPr>
              <a:t>Capacidad para escribir, probar y mantener código en Python.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5720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8C00"/>
                </a:solidFill>
                <a:latin typeface="Comfortaa"/>
              </a:rPr>
              <a:t>Nivel: Inicial-Intermedio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2636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1">
                <a:solidFill>
                  <a:srgbClr val="FFFFFF"/>
                </a:solidFill>
                <a:latin typeface="Comfortaa"/>
              </a:rPr>
              <a:t>dataquantum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omfortaa"/>
              </a:rPr>
              <a:t>Índice de Módulos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7A74F"/>
                </a:solidFill>
                <a:latin typeface="Comfortaa"/>
              </a:rPr>
              <a:t>Python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80160"/>
            <a:ext cx="12188952" cy="54864"/>
          </a:xfrm>
          <a:prstGeom prst="rect">
            <a:avLst/>
          </a:prstGeom>
          <a:solidFill>
            <a:srgbClr val="07A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508760"/>
            <a:ext cx="502920" cy="502920"/>
          </a:xfrm>
          <a:prstGeom prst="rect">
            <a:avLst/>
          </a:prstGeom>
          <a:solidFill>
            <a:srgbClr val="07A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50876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omfortaa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536192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002060"/>
                </a:solidFill>
                <a:latin typeface="Comfortaa"/>
              </a:rPr>
              <a:t>Fundamentos de Python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44444"/>
                </a:solidFill>
                <a:latin typeface="Comfortaa"/>
              </a:rPr>
              <a:t>Sintaxis y tipos de datos  ·  Estructuras de control  ·  Funciones y módulos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468880"/>
            <a:ext cx="502920" cy="502920"/>
          </a:xfrm>
          <a:prstGeom prst="rect">
            <a:avLst/>
          </a:prstGeom>
          <a:solidFill>
            <a:srgbClr val="07A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246888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omfortaa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496312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002060"/>
                </a:solidFill>
                <a:latin typeface="Comfortaa"/>
              </a:rPr>
              <a:t>Programación Orientada a Objetos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92608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44444"/>
                </a:solidFill>
                <a:latin typeface="Comfortaa"/>
              </a:rPr>
              <a:t>Clases y objetos  ·  Herencia y polimorfismo  ·  Encapsulamiento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3429000"/>
            <a:ext cx="502920" cy="502920"/>
          </a:xfrm>
          <a:prstGeom prst="rect">
            <a:avLst/>
          </a:prstGeom>
          <a:solidFill>
            <a:srgbClr val="07A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342900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omfortaa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3456432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002060"/>
                </a:solidFill>
                <a:latin typeface="Comfortaa"/>
              </a:rPr>
              <a:t>Librerías Esenciales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388620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44444"/>
                </a:solidFill>
                <a:latin typeface="Comfortaa"/>
              </a:rPr>
              <a:t>NumPy y Pandas  ·  Requests y APIs  ·  Gestión de entornos virtuales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4389120"/>
            <a:ext cx="502920" cy="502920"/>
          </a:xfrm>
          <a:prstGeom prst="rect">
            <a:avLst/>
          </a:prstGeom>
          <a:solidFill>
            <a:srgbClr val="07A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5760" y="43891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omfortaa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4416552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002060"/>
                </a:solidFill>
                <a:latin typeface="Comfortaa"/>
              </a:rPr>
              <a:t>Testing en Python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484632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44444"/>
                </a:solidFill>
                <a:latin typeface="Comfortaa"/>
              </a:rPr>
              <a:t>pytest y unittest  ·  Mocking y fixtures  ·  Cobertura de código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5349240"/>
            <a:ext cx="502920" cy="502920"/>
          </a:xfrm>
          <a:prstGeom prst="rect">
            <a:avLst/>
          </a:prstGeom>
          <a:solidFill>
            <a:srgbClr val="07A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" y="534924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omfortaa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5376672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002060"/>
                </a:solidFill>
                <a:latin typeface="Comfortaa"/>
              </a:rPr>
              <a:t>Python para Datos y Automatización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" y="580644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44444"/>
                </a:solidFill>
                <a:latin typeface="Comfortaa"/>
              </a:rPr>
              <a:t>Automatización de tareas  ·  Procesamiento de archivos  ·  Proyecto integrador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058400" y="655624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Comfortaa"/>
              </a:rPr>
              <a:t>dataquantum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A74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omfortaa"/>
              </a:rPr>
              <a:t>MÓDULO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011680"/>
            <a:ext cx="10515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omfortaa"/>
              </a:rPr>
              <a:t>Fundamentos de Python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8404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omfortaa"/>
              </a:rPr>
              <a:t>→  Sintaxis y tipos de datos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3434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omfortaa"/>
              </a:rPr>
              <a:t>→  Estructuras de control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8463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omfortaa"/>
              </a:rPr>
              <a:t>→  Funciones y módulos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32764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omfortaa"/>
              </a:rPr>
              <a:t>dataquantum  ·  Python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7A74F"/>
                </a:solidFill>
                <a:latin typeface="Comfortaa"/>
              </a:rPr>
              <a:t>Módulo 1: Fundamentos de Python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omfortaa"/>
              </a:rPr>
              <a:t>Introducción a Python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371600"/>
            <a:ext cx="12188952" cy="64008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002060"/>
                </a:solidFill>
                <a:latin typeface="Comfortaa"/>
              </a:rPr>
              <a:t>Python es el lenguaje más demandado en ciencia de datos, IA y automatización. Su sintaxis clara y su ecosistema maduro lo hacen ideal tanto para principiantes como para proyectos de escala empresarial.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999999"/>
                </a:solidFill>
                <a:latin typeface="Comfortaa"/>
              </a:rPr>
              <a:t>1 / 5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0" y="655624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Comfortaa"/>
              </a:rPr>
              <a:t>dataquantum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7A74F"/>
                </a:solidFill>
                <a:latin typeface="Comfortaa"/>
              </a:rPr>
              <a:t>Módulo 1: Fundamentos de Python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omfortaa"/>
              </a:rPr>
              <a:t>Sintaxis y Tipos de Datos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371600"/>
            <a:ext cx="12188952" cy="64008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002060"/>
                </a:solidFill>
                <a:latin typeface="Comfortaa"/>
              </a:rPr>
              <a:t>Python es dinámicamente tipado: int, float, str, bool, list, dict, tuple y set. La indentación define los bloques de código, eliminando la necesidad de llaves o palabras clave de cierre.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999999"/>
                </a:solidFill>
                <a:latin typeface="Comfortaa"/>
              </a:rPr>
              <a:t>2 / 5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0" y="655624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Comfortaa"/>
              </a:rPr>
              <a:t>dataquantum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7A74F"/>
                </a:solidFill>
                <a:latin typeface="Comfortaa"/>
              </a:rPr>
              <a:t>Módulo 1: Fundamentos de Python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omfortaa"/>
              </a:rPr>
              <a:t>Estructuras de Control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371600"/>
            <a:ext cx="12188952" cy="64008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002060"/>
                </a:solidFill>
                <a:latin typeface="Comfortaa"/>
              </a:rPr>
              <a:t>if/elif/else para condicionales, for y while para bucles, try/except para manejo de errores. Las comprensiones de listas permiten crear colecciones en una sola línea de forma expresiva.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999999"/>
                </a:solidFill>
                <a:latin typeface="Comfortaa"/>
              </a:rPr>
              <a:t>3 / 5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0" y="655624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Comfortaa"/>
              </a:rPr>
              <a:t>dataquantum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7A74F"/>
                </a:solidFill>
                <a:latin typeface="Comfortaa"/>
              </a:rPr>
              <a:t>Módulo 1: Fundamentos de Python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omfortaa"/>
              </a:rPr>
              <a:t>Funciones y Módulos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371600"/>
            <a:ext cx="12188952" cy="64008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002060"/>
                </a:solidFill>
                <a:latin typeface="Comfortaa"/>
              </a:rPr>
              <a:t>Las funciones en Python son ciudadanos de primera clase: pueden pasarse como argumentos, retornarse y almacenarse. Los módulos organizan el código en unidades reutilizables e importables.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999999"/>
                </a:solidFill>
                <a:latin typeface="Comfortaa"/>
              </a:rPr>
              <a:t>4 / 5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0" y="655624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Comfortaa"/>
              </a:rPr>
              <a:t>dataquantum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7A74F"/>
                </a:solidFill>
                <a:latin typeface="Comfortaa"/>
              </a:rPr>
              <a:t>Módulo 1: Fundamentos de Python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omfortaa"/>
              </a:rPr>
              <a:t>Ejercicio Práctico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371600"/>
            <a:ext cx="12188952" cy="64008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002060"/>
                </a:solidFill>
                <a:latin typeface="Comfortaa"/>
              </a:rPr>
              <a:t>Crea un módulo Python que implemente una calculadora con funciones para suma, resta, multiplicación y división. Incluye manejo de errores para división por cero y tipos no numéricos.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999999"/>
                </a:solidFill>
                <a:latin typeface="Comfortaa"/>
              </a:rPr>
              <a:t>5 / 5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0" y="655624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Comfortaa"/>
              </a:rPr>
              <a:t>dataquantum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A74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omfortaa"/>
              </a:rPr>
              <a:t>MÓDULO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011680"/>
            <a:ext cx="10515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omfortaa"/>
              </a:rPr>
              <a:t>Programación Orientada a Objetos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8404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omfortaa"/>
              </a:rPr>
              <a:t>→  Clases y objetos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3434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omfortaa"/>
              </a:rPr>
              <a:t>→  Herencia y polimorfismo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8463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omfortaa"/>
              </a:rPr>
              <a:t>→  Encapsulamiento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32764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omfortaa"/>
              </a:rPr>
              <a:t>dataquantum  ·  Python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7A74F"/>
                </a:solidFill>
                <a:latin typeface="Comfortaa"/>
              </a:rPr>
              <a:t>Módulo 2: Programación Orientada a Objetos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omfortaa"/>
              </a:rPr>
              <a:t>Programación Orientada a Objetos en Python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371600"/>
            <a:ext cx="12188952" cy="64008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002060"/>
                </a:solidFill>
                <a:latin typeface="Comfortaa"/>
              </a:rPr>
              <a:t>La OOP organiza el código en objetos que combinan datos (atributos) y comportamiento (métodos). Python soporta herencia múltiple, métodos especiales (__init__, __str__, __repr__) y propiedades.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999999"/>
                </a:solidFill>
                <a:latin typeface="Comfortaa"/>
              </a:rPr>
              <a:t>1 / 5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0" y="655624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Comfortaa"/>
              </a:rPr>
              <a:t>dataquantum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7A74F"/>
                </a:solidFill>
                <a:latin typeface="Comfortaa"/>
              </a:rPr>
              <a:t>Módulo 2: Programación Orientada a Objetos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omfortaa"/>
              </a:rPr>
              <a:t>Clases y Objetos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371600"/>
            <a:ext cx="12188952" cy="64008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002060"/>
                </a:solidFill>
                <a:latin typeface="Comfortaa"/>
              </a:rPr>
              <a:t>Una clase es un molde; un objeto es una instancia. El método __init__ inicializa el estado del objeto. Los atributos de clase son compartidos; los de instancia son únicos por objeto.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999999"/>
                </a:solidFill>
                <a:latin typeface="Comfortaa"/>
              </a:rPr>
              <a:t>2 / 5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0" y="655624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Comfortaa"/>
              </a:rPr>
              <a:t>dataquantum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7A74F"/>
                </a:solidFill>
                <a:latin typeface="Comfortaa"/>
              </a:rPr>
              <a:t>Módulo 2: Programación Orientada a Objetos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omfortaa"/>
              </a:rPr>
              <a:t>Herencia y Polimorfismo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371600"/>
            <a:ext cx="12188952" cy="64008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002060"/>
                </a:solidFill>
                <a:latin typeface="Comfortaa"/>
              </a:rPr>
              <a:t>La herencia permite reutilizar y extender clases existentes. El polimorfismo permite que objetos de distintas clases respondan al mismo mensaje de forma diferente, facilitando el diseño extensible.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999999"/>
                </a:solidFill>
                <a:latin typeface="Comfortaa"/>
              </a:rPr>
              <a:t>3 / 5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0" y="655624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Comfortaa"/>
              </a:rPr>
              <a:t>dataquantum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7A74F"/>
                </a:solidFill>
                <a:latin typeface="Comfortaa"/>
              </a:rPr>
              <a:t>Módulo 2: Programación Orientada a Objetos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omfortaa"/>
              </a:rPr>
              <a:t>Encapsulamiento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371600"/>
            <a:ext cx="12188952" cy="64008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002060"/>
                </a:solidFill>
                <a:latin typeface="Comfortaa"/>
              </a:rPr>
              <a:t>Python usa convenciones: _atributo (protegido) y __atributo (privado con name mangling). Las propiedades (@property) permiten control de acceso con getters y setters elegantes.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999999"/>
                </a:solidFill>
                <a:latin typeface="Comfortaa"/>
              </a:rPr>
              <a:t>4 / 5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0" y="655624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Comfortaa"/>
              </a:rPr>
              <a:t>dataquantum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7A74F"/>
                </a:solidFill>
                <a:latin typeface="Comfortaa"/>
              </a:rPr>
              <a:t>Módulo 2: Programación Orientada a Objetos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omfortaa"/>
              </a:rPr>
              <a:t>Ejercicio Práctico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371600"/>
            <a:ext cx="12188952" cy="64008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002060"/>
                </a:solidFill>
                <a:latin typeface="Comfortaa"/>
              </a:rPr>
              <a:t>Diseña una jerarquía de clases para un sistema de gestión de empleados: Empleado (base), Desarrollador y Manager (subclases). Implementa un método calcular_salario() que se comporte diferente en cada subclase.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999999"/>
                </a:solidFill>
                <a:latin typeface="Comfortaa"/>
              </a:rPr>
              <a:t>5 / 5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0" y="655624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Comfortaa"/>
              </a:rPr>
              <a:t>dataquantum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A74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omfortaa"/>
              </a:rPr>
              <a:t>MÓDULO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011680"/>
            <a:ext cx="10515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omfortaa"/>
              </a:rPr>
              <a:t>Librerías Esenciales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8404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omfortaa"/>
              </a:rPr>
              <a:t>→  NumPy y Pandas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3434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omfortaa"/>
              </a:rPr>
              <a:t>→  Requests y APIs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8463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omfortaa"/>
              </a:rPr>
              <a:t>→  Gestión de entornos virtuales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32764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omfortaa"/>
              </a:rPr>
              <a:t>dataquantum  ·  Python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7A74F"/>
                </a:solidFill>
                <a:latin typeface="Comfortaa"/>
              </a:rPr>
              <a:t>Módulo 3: Librerías Esenciales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omfortaa"/>
              </a:rPr>
              <a:t>Librerías Esenciales de Python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371600"/>
            <a:ext cx="12188952" cy="64008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002060"/>
                </a:solidFill>
                <a:latin typeface="Comfortaa"/>
              </a:rPr>
              <a:t>El ecosistema Python cuenta con más de 400.000 paquetes en PyPI. Las librerías esenciales para datos y automatización son NumPy, Pandas, Requests, y las herramientas de gestión de entornos.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999999"/>
                </a:solidFill>
                <a:latin typeface="Comfortaa"/>
              </a:rPr>
              <a:t>1 / 5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0" y="655624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Comfortaa"/>
              </a:rPr>
              <a:t>dataquantum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7A74F"/>
                </a:solidFill>
                <a:latin typeface="Comfortaa"/>
              </a:rPr>
              <a:t>Módulo 3: Librerías Esenciales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omfortaa"/>
              </a:rPr>
              <a:t>NumPy y Pandas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371600"/>
            <a:ext cx="12188952" cy="64008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002060"/>
                </a:solidFill>
                <a:latin typeface="Comfortaa"/>
              </a:rPr>
              <a:t>NumPy proporciona arrays multidimensionales y operaciones matemáticas vectorizadas, hasta 100 veces más rápidas que listas Python. Pandas añade DataFrames para manipulación de datos tabulares con SQL-like operations.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999999"/>
                </a:solidFill>
                <a:latin typeface="Comfortaa"/>
              </a:rPr>
              <a:t>2 / 5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0" y="655624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Comfortaa"/>
              </a:rPr>
              <a:t>dataquantum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7A74F"/>
                </a:solidFill>
                <a:latin typeface="Comfortaa"/>
              </a:rPr>
              <a:t>Módulo 3: Librerías Esenciales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omfortaa"/>
              </a:rPr>
              <a:t>Requests y APIs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371600"/>
            <a:ext cx="12188952" cy="64008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002060"/>
                </a:solidFill>
                <a:latin typeface="Comfortaa"/>
              </a:rPr>
              <a:t>La librería Requests simplifica las peticiones HTTP: GET, POST, PUT, DELETE. Permite consumir APIs REST, gestionar autenticación, cabeceras y manejo de errores de red de forma elegante.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999999"/>
                </a:solidFill>
                <a:latin typeface="Comfortaa"/>
              </a:rPr>
              <a:t>3 / 5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0" y="655624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Comfortaa"/>
              </a:rPr>
              <a:t>dataquantum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7A74F"/>
                </a:solidFill>
                <a:latin typeface="Comfortaa"/>
              </a:rPr>
              <a:t>Módulo 3: Librerías Esenciales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omfortaa"/>
              </a:rPr>
              <a:t>Gestión de Entornos Virtuales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371600"/>
            <a:ext cx="12188952" cy="64008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002060"/>
                </a:solidFill>
                <a:latin typeface="Comfortaa"/>
              </a:rPr>
              <a:t>venv y poetry aíslan las dependencias de cada proyecto, evitando conflictos entre versiones. pip gestiona la instalación; requirements.txt o pyproject.toml documentan las dependencias para reproducibilidad.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999999"/>
                </a:solidFill>
                <a:latin typeface="Comfortaa"/>
              </a:rPr>
              <a:t>4 / 5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0" y="655624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Comfortaa"/>
              </a:rPr>
              <a:t>dataquantum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7A74F"/>
                </a:solidFill>
                <a:latin typeface="Comfortaa"/>
              </a:rPr>
              <a:t>Módulo 3: Librerías Esenciales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omfortaa"/>
              </a:rPr>
              <a:t>Ejercicio Práctico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371600"/>
            <a:ext cx="12188952" cy="64008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002060"/>
                </a:solidFill>
                <a:latin typeface="Comfortaa"/>
              </a:rPr>
              <a:t>Crea un script que consuma la API pública de GitHub, extraiga los 10 repositorios más populares de Python, los almacene en un DataFrame de Pandas y genere un CSV con nombre, estrellas y descripción.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999999"/>
                </a:solidFill>
                <a:latin typeface="Comfortaa"/>
              </a:rPr>
              <a:t>5 / 5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0" y="655624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Comfortaa"/>
              </a:rPr>
              <a:t>dataquantum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852160"/>
            <a:ext cx="12188952" cy="100584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1828800"/>
            <a:ext cx="121889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>
                <a:solidFill>
                  <a:srgbClr val="FFFFFF"/>
                </a:solidFill>
                <a:latin typeface="Comfortaa"/>
              </a:rPr>
              <a:t>¡Sigue aprendiendo!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3017520"/>
            <a:ext cx="121889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07A74F"/>
                </a:solidFill>
                <a:latin typeface="Comfortaa"/>
              </a:rPr>
              <a:t>Python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5897880"/>
            <a:ext cx="121889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omfortaa"/>
              </a:rPr>
              <a:t>dataquantum Learning Platform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