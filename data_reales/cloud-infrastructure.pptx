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12188952" cy="6400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7315200" cy="457200"/>
          </a:xfrm>
          <a:prstGeom prst="rect">
            <a:avLst/>
          </a:prstGeom>
          <a:noFill/>
        </p:spPr>
        <p:txBody>
          <a:bodyPr wrap="square">
            <a:spAutoFit/>
          </a:bodyPr>
          <a:lstStyle/>
          <a:p>
            <a:pPr algn="l"/>
            <a:r>
              <a:rPr sz="1300" b="0">
                <a:solidFill>
                  <a:srgbClr val="07A74F"/>
                </a:solidFill>
                <a:latin typeface="Comfortaa"/>
              </a:rPr>
              <a:t>DEVOPS</a:t>
            </a:r>
          </a:p>
        </p:txBody>
      </p:sp>
      <p:sp>
        <p:nvSpPr>
          <p:cNvPr id="5" name="TextBox 4"/>
          <p:cNvSpPr txBox="1"/>
          <p:nvPr/>
        </p:nvSpPr>
        <p:spPr>
          <a:xfrm>
            <a:off x="548640" y="1645920"/>
            <a:ext cx="10515600" cy="1828800"/>
          </a:xfrm>
          <a:prstGeom prst="rect">
            <a:avLst/>
          </a:prstGeom>
          <a:noFill/>
        </p:spPr>
        <p:txBody>
          <a:bodyPr wrap="square">
            <a:spAutoFit/>
          </a:bodyPr>
          <a:lstStyle/>
          <a:p>
            <a:pPr algn="l"/>
            <a:r>
              <a:rPr sz="4600" b="1">
                <a:solidFill>
                  <a:srgbClr val="FFFFFF"/>
                </a:solidFill>
                <a:latin typeface="Comfortaa"/>
              </a:rPr>
              <a:t>Infraestructura Cloud</a:t>
            </a:r>
          </a:p>
        </p:txBody>
      </p:sp>
      <p:sp>
        <p:nvSpPr>
          <p:cNvPr id="6" name="TextBox 5"/>
          <p:cNvSpPr txBox="1"/>
          <p:nvPr/>
        </p:nvSpPr>
        <p:spPr>
          <a:xfrm>
            <a:off x="548640" y="3566160"/>
            <a:ext cx="8686800" cy="914400"/>
          </a:xfrm>
          <a:prstGeom prst="rect">
            <a:avLst/>
          </a:prstGeom>
          <a:noFill/>
        </p:spPr>
        <p:txBody>
          <a:bodyPr wrap="square">
            <a:spAutoFit/>
          </a:bodyPr>
          <a:lstStyle/>
          <a:p>
            <a:pPr algn="l"/>
            <a:r>
              <a:rPr sz="1800" b="0">
                <a:solidFill>
                  <a:srgbClr val="CCDDFF"/>
                </a:solidFill>
                <a:latin typeface="Comfortaa"/>
              </a:rPr>
              <a:t>Diseño y gestión de recursos en proveedores como AWS, GCP o Azure.</a:t>
            </a:r>
          </a:p>
        </p:txBody>
      </p:sp>
      <p:sp>
        <p:nvSpPr>
          <p:cNvPr id="7" name="TextBox 6"/>
          <p:cNvSpPr txBox="1"/>
          <p:nvPr/>
        </p:nvSpPr>
        <p:spPr>
          <a:xfrm>
            <a:off x="548640" y="4572000"/>
            <a:ext cx="4572000" cy="457200"/>
          </a:xfrm>
          <a:prstGeom prst="rect">
            <a:avLst/>
          </a:prstGeom>
          <a:noFill/>
        </p:spPr>
        <p:txBody>
          <a:bodyPr wrap="square">
            <a:spAutoFit/>
          </a:bodyPr>
          <a:lstStyle/>
          <a:p>
            <a:pPr algn="l"/>
            <a:r>
              <a:rPr sz="1500" b="0">
                <a:solidFill>
                  <a:srgbClr val="FF8C00"/>
                </a:solidFill>
                <a:latin typeface="Comfortaa"/>
              </a:rPr>
              <a:t>Nivel: Intermedio</a:t>
            </a:r>
          </a:p>
        </p:txBody>
      </p:sp>
      <p:sp>
        <p:nvSpPr>
          <p:cNvPr id="8" name="TextBox 7"/>
          <p:cNvSpPr txBox="1"/>
          <p:nvPr/>
        </p:nvSpPr>
        <p:spPr>
          <a:xfrm>
            <a:off x="8686800" y="6263640"/>
            <a:ext cx="3200400" cy="457200"/>
          </a:xfrm>
          <a:prstGeom prst="rect">
            <a:avLst/>
          </a:prstGeom>
          <a:noFill/>
        </p:spPr>
        <p:txBody>
          <a:bodyPr wrap="square">
            <a:spAutoFit/>
          </a:bodyPr>
          <a:lstStyle/>
          <a:p>
            <a:pPr algn="r"/>
            <a:r>
              <a:rPr sz="1600" b="1">
                <a:solidFill>
                  <a:srgbClr val="FFFFFF"/>
                </a:solidFill>
                <a:latin typeface="Comfortaa"/>
              </a:rPr>
              <a:t>dataquantum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9144000" cy="822960"/>
          </a:xfrm>
          <a:prstGeom prst="rect">
            <a:avLst/>
          </a:prstGeom>
          <a:noFill/>
        </p:spPr>
        <p:txBody>
          <a:bodyPr wrap="square">
            <a:spAutoFit/>
          </a:bodyPr>
          <a:lstStyle/>
          <a:p>
            <a:pPr algn="l"/>
            <a:r>
              <a:rPr sz="3000" b="1">
                <a:solidFill>
                  <a:srgbClr val="FFFFFF"/>
                </a:solidFill>
                <a:latin typeface="Comfortaa"/>
              </a:rPr>
              <a:t>Índice de Módulos</a:t>
            </a:r>
          </a:p>
        </p:txBody>
      </p:sp>
      <p:sp>
        <p:nvSpPr>
          <p:cNvPr id="4" name="TextBox 3"/>
          <p:cNvSpPr txBox="1"/>
          <p:nvPr/>
        </p:nvSpPr>
        <p:spPr>
          <a:xfrm>
            <a:off x="457200" y="868680"/>
            <a:ext cx="9144000" cy="411480"/>
          </a:xfrm>
          <a:prstGeom prst="rect">
            <a:avLst/>
          </a:prstGeom>
          <a:noFill/>
        </p:spPr>
        <p:txBody>
          <a:bodyPr wrap="square">
            <a:spAutoFit/>
          </a:bodyPr>
          <a:lstStyle/>
          <a:p>
            <a:pPr algn="l"/>
            <a:r>
              <a:rPr sz="1400" b="0">
                <a:solidFill>
                  <a:srgbClr val="07A74F"/>
                </a:solidFill>
                <a:latin typeface="Comfortaa"/>
              </a:rPr>
              <a:t>Infraestructura Cloud</a:t>
            </a:r>
          </a:p>
        </p:txBody>
      </p:sp>
      <p:sp>
        <p:nvSpPr>
          <p:cNvPr id="5" name="Rectangle 4"/>
          <p:cNvSpPr/>
          <p:nvPr/>
        </p:nvSpPr>
        <p:spPr>
          <a:xfrm>
            <a:off x="0" y="1280160"/>
            <a:ext cx="12188952" cy="54864"/>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502920" cy="502920"/>
          </a:xfrm>
          <a:prstGeom prst="rect">
            <a:avLst/>
          </a:prstGeom>
          <a:noFill/>
        </p:spPr>
        <p:txBody>
          <a:bodyPr wrap="square">
            <a:spAutoFit/>
          </a:bodyPr>
          <a:lstStyle/>
          <a:p>
            <a:pPr algn="ctr"/>
            <a:r>
              <a:rPr sz="1800" b="1">
                <a:solidFill>
                  <a:srgbClr val="FFFFFF"/>
                </a:solidFill>
                <a:latin typeface="Comfortaa"/>
              </a:rPr>
              <a:t>1</a:t>
            </a:r>
          </a:p>
        </p:txBody>
      </p:sp>
      <p:sp>
        <p:nvSpPr>
          <p:cNvPr id="8" name="TextBox 7"/>
          <p:cNvSpPr txBox="1"/>
          <p:nvPr/>
        </p:nvSpPr>
        <p:spPr>
          <a:xfrm>
            <a:off x="1005840" y="1536192"/>
            <a:ext cx="5029200" cy="457200"/>
          </a:xfrm>
          <a:prstGeom prst="rect">
            <a:avLst/>
          </a:prstGeom>
          <a:noFill/>
        </p:spPr>
        <p:txBody>
          <a:bodyPr wrap="square">
            <a:spAutoFit/>
          </a:bodyPr>
          <a:lstStyle/>
          <a:p>
            <a:pPr algn="l"/>
            <a:r>
              <a:rPr sz="1700" b="1">
                <a:solidFill>
                  <a:srgbClr val="002060"/>
                </a:solidFill>
                <a:latin typeface="Comfortaa"/>
              </a:rPr>
              <a:t>Fundamentos Cloud</a:t>
            </a:r>
          </a:p>
        </p:txBody>
      </p:sp>
      <p:sp>
        <p:nvSpPr>
          <p:cNvPr id="9" name="TextBox 8"/>
          <p:cNvSpPr txBox="1"/>
          <p:nvPr/>
        </p:nvSpPr>
        <p:spPr>
          <a:xfrm>
            <a:off x="1005840" y="1965960"/>
            <a:ext cx="10515600" cy="411480"/>
          </a:xfrm>
          <a:prstGeom prst="rect">
            <a:avLst/>
          </a:prstGeom>
          <a:noFill/>
        </p:spPr>
        <p:txBody>
          <a:bodyPr wrap="square">
            <a:spAutoFit/>
          </a:bodyPr>
          <a:lstStyle/>
          <a:p>
            <a:pPr algn="l"/>
            <a:r>
              <a:rPr sz="1200" b="0">
                <a:solidFill>
                  <a:srgbClr val="444444"/>
                </a:solidFill>
                <a:latin typeface="Comfortaa"/>
              </a:rPr>
              <a:t>Modelos IaaS, PaaS, SaaS  ·  Los tres grandes proveedores  ·  Regiones y zonas de disponibilidad</a:t>
            </a:r>
          </a:p>
        </p:txBody>
      </p:sp>
      <p:sp>
        <p:nvSpPr>
          <p:cNvPr id="10" name="Rectangle 9"/>
          <p:cNvSpPr/>
          <p:nvPr/>
        </p:nvSpPr>
        <p:spPr>
          <a:xfrm>
            <a:off x="365760" y="246888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468880"/>
            <a:ext cx="502920" cy="502920"/>
          </a:xfrm>
          <a:prstGeom prst="rect">
            <a:avLst/>
          </a:prstGeom>
          <a:noFill/>
        </p:spPr>
        <p:txBody>
          <a:bodyPr wrap="square">
            <a:spAutoFit/>
          </a:bodyPr>
          <a:lstStyle/>
          <a:p>
            <a:pPr algn="ctr"/>
            <a:r>
              <a:rPr sz="1800" b="1">
                <a:solidFill>
                  <a:srgbClr val="FFFFFF"/>
                </a:solidFill>
                <a:latin typeface="Comfortaa"/>
              </a:rPr>
              <a:t>2</a:t>
            </a:r>
          </a:p>
        </p:txBody>
      </p:sp>
      <p:sp>
        <p:nvSpPr>
          <p:cNvPr id="12" name="TextBox 11"/>
          <p:cNvSpPr txBox="1"/>
          <p:nvPr/>
        </p:nvSpPr>
        <p:spPr>
          <a:xfrm>
            <a:off x="1005840" y="2496312"/>
            <a:ext cx="5029200" cy="457200"/>
          </a:xfrm>
          <a:prstGeom prst="rect">
            <a:avLst/>
          </a:prstGeom>
          <a:noFill/>
        </p:spPr>
        <p:txBody>
          <a:bodyPr wrap="square">
            <a:spAutoFit/>
          </a:bodyPr>
          <a:lstStyle/>
          <a:p>
            <a:pPr algn="l"/>
            <a:r>
              <a:rPr sz="1700" b="1">
                <a:solidFill>
                  <a:srgbClr val="002060"/>
                </a:solidFill>
                <a:latin typeface="Comfortaa"/>
              </a:rPr>
              <a:t>AWS Esencial</a:t>
            </a:r>
          </a:p>
        </p:txBody>
      </p:sp>
      <p:sp>
        <p:nvSpPr>
          <p:cNvPr id="13" name="TextBox 12"/>
          <p:cNvSpPr txBox="1"/>
          <p:nvPr/>
        </p:nvSpPr>
        <p:spPr>
          <a:xfrm>
            <a:off x="1005840" y="2926080"/>
            <a:ext cx="10515600" cy="411480"/>
          </a:xfrm>
          <a:prstGeom prst="rect">
            <a:avLst/>
          </a:prstGeom>
          <a:noFill/>
        </p:spPr>
        <p:txBody>
          <a:bodyPr wrap="square">
            <a:spAutoFit/>
          </a:bodyPr>
          <a:lstStyle/>
          <a:p>
            <a:pPr algn="l"/>
            <a:r>
              <a:rPr sz="1200" b="0">
                <a:solidFill>
                  <a:srgbClr val="444444"/>
                </a:solidFill>
                <a:latin typeface="Comfortaa"/>
              </a:rPr>
              <a:t>EC2 y S3  ·  VPC y seguridad  ·  Lambda y serverless</a:t>
            </a:r>
          </a:p>
        </p:txBody>
      </p:sp>
      <p:sp>
        <p:nvSpPr>
          <p:cNvPr id="14" name="Rectangle 13"/>
          <p:cNvSpPr/>
          <p:nvPr/>
        </p:nvSpPr>
        <p:spPr>
          <a:xfrm>
            <a:off x="365760" y="342900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429000"/>
            <a:ext cx="502920" cy="502920"/>
          </a:xfrm>
          <a:prstGeom prst="rect">
            <a:avLst/>
          </a:prstGeom>
          <a:noFill/>
        </p:spPr>
        <p:txBody>
          <a:bodyPr wrap="square">
            <a:spAutoFit/>
          </a:bodyPr>
          <a:lstStyle/>
          <a:p>
            <a:pPr algn="ctr"/>
            <a:r>
              <a:rPr sz="1800" b="1">
                <a:solidFill>
                  <a:srgbClr val="FFFFFF"/>
                </a:solidFill>
                <a:latin typeface="Comfortaa"/>
              </a:rPr>
              <a:t>3</a:t>
            </a:r>
          </a:p>
        </p:txBody>
      </p:sp>
      <p:sp>
        <p:nvSpPr>
          <p:cNvPr id="16" name="TextBox 15"/>
          <p:cNvSpPr txBox="1"/>
          <p:nvPr/>
        </p:nvSpPr>
        <p:spPr>
          <a:xfrm>
            <a:off x="1005840" y="3456432"/>
            <a:ext cx="5029200" cy="457200"/>
          </a:xfrm>
          <a:prstGeom prst="rect">
            <a:avLst/>
          </a:prstGeom>
          <a:noFill/>
        </p:spPr>
        <p:txBody>
          <a:bodyPr wrap="square">
            <a:spAutoFit/>
          </a:bodyPr>
          <a:lstStyle/>
          <a:p>
            <a:pPr algn="l"/>
            <a:r>
              <a:rPr sz="1700" b="1">
                <a:solidFill>
                  <a:srgbClr val="002060"/>
                </a:solidFill>
                <a:latin typeface="Comfortaa"/>
              </a:rPr>
              <a:t>Infrastructure as Code</a:t>
            </a:r>
          </a:p>
        </p:txBody>
      </p:sp>
      <p:sp>
        <p:nvSpPr>
          <p:cNvPr id="17" name="TextBox 16"/>
          <p:cNvSpPr txBox="1"/>
          <p:nvPr/>
        </p:nvSpPr>
        <p:spPr>
          <a:xfrm>
            <a:off x="1005840" y="3886200"/>
            <a:ext cx="10515600" cy="411480"/>
          </a:xfrm>
          <a:prstGeom prst="rect">
            <a:avLst/>
          </a:prstGeom>
          <a:noFill/>
        </p:spPr>
        <p:txBody>
          <a:bodyPr wrap="square">
            <a:spAutoFit/>
          </a:bodyPr>
          <a:lstStyle/>
          <a:p>
            <a:pPr algn="l"/>
            <a:r>
              <a:rPr sz="1200" b="0">
                <a:solidFill>
                  <a:srgbClr val="444444"/>
                </a:solidFill>
                <a:latin typeface="Comfortaa"/>
              </a:rPr>
              <a:t>Terraform  ·  AWS CloudFormation  ·  Pulumi</a:t>
            </a:r>
          </a:p>
        </p:txBody>
      </p:sp>
      <p:sp>
        <p:nvSpPr>
          <p:cNvPr id="18" name="Rectangle 17"/>
          <p:cNvSpPr/>
          <p:nvPr/>
        </p:nvSpPr>
        <p:spPr>
          <a:xfrm>
            <a:off x="365760" y="438912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389120"/>
            <a:ext cx="502920" cy="502920"/>
          </a:xfrm>
          <a:prstGeom prst="rect">
            <a:avLst/>
          </a:prstGeom>
          <a:noFill/>
        </p:spPr>
        <p:txBody>
          <a:bodyPr wrap="square">
            <a:spAutoFit/>
          </a:bodyPr>
          <a:lstStyle/>
          <a:p>
            <a:pPr algn="ctr"/>
            <a:r>
              <a:rPr sz="1800" b="1">
                <a:solidFill>
                  <a:srgbClr val="FFFFFF"/>
                </a:solidFill>
                <a:latin typeface="Comfortaa"/>
              </a:rPr>
              <a:t>4</a:t>
            </a:r>
          </a:p>
        </p:txBody>
      </p:sp>
      <p:sp>
        <p:nvSpPr>
          <p:cNvPr id="20" name="TextBox 19"/>
          <p:cNvSpPr txBox="1"/>
          <p:nvPr/>
        </p:nvSpPr>
        <p:spPr>
          <a:xfrm>
            <a:off x="1005840" y="4416552"/>
            <a:ext cx="5029200" cy="457200"/>
          </a:xfrm>
          <a:prstGeom prst="rect">
            <a:avLst/>
          </a:prstGeom>
          <a:noFill/>
        </p:spPr>
        <p:txBody>
          <a:bodyPr wrap="square">
            <a:spAutoFit/>
          </a:bodyPr>
          <a:lstStyle/>
          <a:p>
            <a:pPr algn="l"/>
            <a:r>
              <a:rPr sz="1700" b="1">
                <a:solidFill>
                  <a:srgbClr val="002060"/>
                </a:solidFill>
                <a:latin typeface="Comfortaa"/>
              </a:rPr>
              <a:t>Optimización de Costes</a:t>
            </a:r>
          </a:p>
        </p:txBody>
      </p:sp>
      <p:sp>
        <p:nvSpPr>
          <p:cNvPr id="21" name="TextBox 20"/>
          <p:cNvSpPr txBox="1"/>
          <p:nvPr/>
        </p:nvSpPr>
        <p:spPr>
          <a:xfrm>
            <a:off x="1005840" y="4846320"/>
            <a:ext cx="10515600" cy="411480"/>
          </a:xfrm>
          <a:prstGeom prst="rect">
            <a:avLst/>
          </a:prstGeom>
          <a:noFill/>
        </p:spPr>
        <p:txBody>
          <a:bodyPr wrap="square">
            <a:spAutoFit/>
          </a:bodyPr>
          <a:lstStyle/>
          <a:p>
            <a:pPr algn="l"/>
            <a:r>
              <a:rPr sz="1200" b="0">
                <a:solidFill>
                  <a:srgbClr val="444444"/>
                </a:solidFill>
                <a:latin typeface="Comfortaa"/>
              </a:rPr>
              <a:t>Right-sizing  ·  Reserved vs Spot instances  ·  FinOps</a:t>
            </a:r>
          </a:p>
        </p:txBody>
      </p:sp>
      <p:sp>
        <p:nvSpPr>
          <p:cNvPr id="22" name="Rectangle 21"/>
          <p:cNvSpPr/>
          <p:nvPr/>
        </p:nvSpPr>
        <p:spPr>
          <a:xfrm>
            <a:off x="365760" y="534924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349240"/>
            <a:ext cx="502920" cy="502920"/>
          </a:xfrm>
          <a:prstGeom prst="rect">
            <a:avLst/>
          </a:prstGeom>
          <a:noFill/>
        </p:spPr>
        <p:txBody>
          <a:bodyPr wrap="square">
            <a:spAutoFit/>
          </a:bodyPr>
          <a:lstStyle/>
          <a:p>
            <a:pPr algn="ctr"/>
            <a:r>
              <a:rPr sz="1800" b="1">
                <a:solidFill>
                  <a:srgbClr val="FFFFFF"/>
                </a:solidFill>
                <a:latin typeface="Comfortaa"/>
              </a:rPr>
              <a:t>5</a:t>
            </a:r>
          </a:p>
        </p:txBody>
      </p:sp>
      <p:sp>
        <p:nvSpPr>
          <p:cNvPr id="24" name="TextBox 23"/>
          <p:cNvSpPr txBox="1"/>
          <p:nvPr/>
        </p:nvSpPr>
        <p:spPr>
          <a:xfrm>
            <a:off x="1005840" y="5376672"/>
            <a:ext cx="5029200" cy="457200"/>
          </a:xfrm>
          <a:prstGeom prst="rect">
            <a:avLst/>
          </a:prstGeom>
          <a:noFill/>
        </p:spPr>
        <p:txBody>
          <a:bodyPr wrap="square">
            <a:spAutoFit/>
          </a:bodyPr>
          <a:lstStyle/>
          <a:p>
            <a:pPr algn="l"/>
            <a:r>
              <a:rPr sz="1700" b="1">
                <a:solidFill>
                  <a:srgbClr val="002060"/>
                </a:solidFill>
                <a:latin typeface="Comfortaa"/>
              </a:rPr>
              <a:t>Seguridad en la Nube</a:t>
            </a:r>
          </a:p>
        </p:txBody>
      </p:sp>
      <p:sp>
        <p:nvSpPr>
          <p:cNvPr id="25" name="TextBox 24"/>
          <p:cNvSpPr txBox="1"/>
          <p:nvPr/>
        </p:nvSpPr>
        <p:spPr>
          <a:xfrm>
            <a:off x="1005840" y="5806440"/>
            <a:ext cx="10515600" cy="411480"/>
          </a:xfrm>
          <a:prstGeom prst="rect">
            <a:avLst/>
          </a:prstGeom>
          <a:noFill/>
        </p:spPr>
        <p:txBody>
          <a:bodyPr wrap="square">
            <a:spAutoFit/>
          </a:bodyPr>
          <a:lstStyle/>
          <a:p>
            <a:pPr algn="l"/>
            <a:r>
              <a:rPr sz="1200" b="0">
                <a:solidFill>
                  <a:srgbClr val="444444"/>
                </a:solidFill>
                <a:latin typeface="Comfortaa"/>
              </a:rPr>
              <a:t>IAM y políticas  ·  Cifrado y compliance  ·  Cloud Security Posture</a:t>
            </a:r>
          </a:p>
        </p:txBody>
      </p:sp>
      <p:sp>
        <p:nvSpPr>
          <p:cNvPr id="26" name="Rectangle 25"/>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1</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Fundamentos Cloud</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Modelos IaaS, PaaS, SaaS</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Los tres grandes proveedores</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Regiones y zonas de disponibilidad</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Infraestructura Cloud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Cloud</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Cloud Computing: La Infraestructura del Siglo XXI</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94% de las empresas ya usan servicios cloud (Flexera 2024). El mercado cloud alcanzará los 1,2 billones de dólares en 2028. Dominar la infraestructura cloud es una de las habilidades más demandadas y mejor remuneradas del mercado tecnológico.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Cloud</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Modelos de Servicio: IaaS, PaaS, SaaS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IaaS (Infrastructure as a Service): servidores virtuales, almacenamiento y redes. PaaS (Platform as a Service): entorno de desarrollo y despliegue gestionado. SaaS (Software as a Service): aplicaciones listas para usar. Cada modelo ofrece diferente nivel de control y responsabilidad.</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Cloud</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Los Tres Grandes Proveedores Cloud</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AWS lidera con el 31% del mercado: mayor ecosistema y madurez. Azure tiene el 25%: integración con el ecosistema Microsoft y fuerte en empresas. Google Cloud tiene el 11%: liderazgo en IA/ML y Big Data. Los tres ofrecen más de 200 servicios cada uno.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Cloud</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Regiones y Zonas de Disponibilidad</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Una región es un área geográfica con múltiples centros de datos. Una zona de disponibilidad (AZ) es un centro de datos independiente dentro de una región. Desplegar en múltiples AZs garantiza alta disponibilidad ante fallos de hardware o energía.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Cloud</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Diseña la arquitectura cloud para una aplicación web con alta disponibilidad: selecciona la región, distribuye los componentes en múltiples AZs, elige los servicios de AWS/GCP/Azure adecuados y estima el coste mensual con la calculadora del proveedor.</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2</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AWS Esencial</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EC2 y S3</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VPC y seguridad</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Lambda y serverless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Infraestructura Cloud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AWS Esencial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AWS: El Proveedor Cloud Más Completo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Amazon Web Services ofrece más de 200 servicios cloud desde 2006. Con el 31% del mercado y presencia en 33 regiones geográficas, AWS es la plataforma de referencia para startups, empresas y administraciones públicas de todo el mundo.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AWS Esencial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EC2: Computación Virtual</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EC2 (Elastic Compute Cloud) proporciona servidores virtuales (instancias) con CPU, RAM y almacenamiento configurables. Los tipos de instancia (t3, m5, c5, r5) están optimizados para diferentes cargas: general, cómputo, memoria o almacenamiento.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AWS Esencial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S3: Almacenamiento de Objetos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S3 (Simple Storage Service) almacena objetos (archivos) con durabilidad del 99.999999999% (11 nueves). Es la base del almacenamiento cloud: backups, hosting de webs estáticas, Data Lakes, distribución de contenido y archivos de aplicaciones.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AWS Esencial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Lambda: Computación Serverless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Lambda ejecuta código sin gestionar servidores: solo pagas por el tiempo de ejecución (en milisegundos). Se activa por eventos (HTTP, S3, DynamoDB, SQS). Ideal para APIs de bajo tráfico, procesamiento de eventos y automatización.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AWS Esencial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Despliega una aplicación web serverless en AWS: una API con API Gateway + Lambda, datos en DynamoDB, archivos estáticos en S3 con CloudFront y autenticación con Cognito. Estima el coste para 100.000 peticiones/mes.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3</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Infrastructure as Code</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Terraform</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AWS CloudFormation</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Pulumi</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Infraestructura Cloud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Infrastructure as Code</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Infrastructure as Code: La Infraestructura como Software</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IaC define la infraestructura en archivos de código versionables, revisables y reutilizables. Elimina la configuración manual, garantiza entornos reproducibles y permite aplicar las mejores prácticas de ingeniería de software a la infraestructura.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Infrastructure as Code</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Terraform: IaC Multi-Cloud</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Terraform de HashiCorp es el estándar de IaC multi-cloud. Define recursos en HCL (HashiCorp Configuration Language): providers, resources, variables y outputs. terraform plan muestra los cambios antes de aplicarlos. terraform apply los ejecuta.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Infrastructure as Code</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Estado y Módulos en Terraform</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estado (terraform.tfstate) registra los recursos creados. Se almacena remotamente en S3 + DynamoDB para equipos. Los módulos encapsulan configuraciones reutilizables: un módulo de VPC, uno de EKS, uno de RDS, componibles como piezas de LEGO.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Infrastructure as Code</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AWS CloudFormation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CloudFormation es el IaC nativo de AWS: define stacks de recursos en YAML o JSON. Los Change Sets muestran los cambios antes de aplicarlos. Los Nested Stacks permiten modularidad. Integrado con todos los servicios AWS y con soporte de rollback automático.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Infrastructure as Code</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Crea un módulo Terraform que despliegue una arquitectura de 3 capas en AWS: VPC con subnets públicas y privadas, un ALB, un grupo de Auto Scaling de EC2 y una base de datos RDS Multi-AZ. Versiona el código en Git.</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5852160"/>
            <a:ext cx="12188952" cy="10058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12188952" cy="1097280"/>
          </a:xfrm>
          <a:prstGeom prst="rect">
            <a:avLst/>
          </a:prstGeom>
          <a:noFill/>
        </p:spPr>
        <p:txBody>
          <a:bodyPr wrap="square">
            <a:spAutoFit/>
          </a:bodyPr>
          <a:lstStyle/>
          <a:p>
            <a:pPr algn="ctr"/>
            <a:r>
              <a:rPr sz="4200" b="1">
                <a:solidFill>
                  <a:srgbClr val="FFFFFF"/>
                </a:solidFill>
                <a:latin typeface="Comfortaa"/>
              </a:rPr>
              <a:t>¡Sigue aprendiendo!</a:t>
            </a:r>
          </a:p>
        </p:txBody>
      </p:sp>
      <p:sp>
        <p:nvSpPr>
          <p:cNvPr id="4" name="TextBox 3"/>
          <p:cNvSpPr txBox="1"/>
          <p:nvPr/>
        </p:nvSpPr>
        <p:spPr>
          <a:xfrm>
            <a:off x="0" y="3017520"/>
            <a:ext cx="12188952" cy="640080"/>
          </a:xfrm>
          <a:prstGeom prst="rect">
            <a:avLst/>
          </a:prstGeom>
          <a:noFill/>
        </p:spPr>
        <p:txBody>
          <a:bodyPr wrap="square">
            <a:spAutoFit/>
          </a:bodyPr>
          <a:lstStyle/>
          <a:p>
            <a:pPr algn="ctr"/>
            <a:r>
              <a:rPr sz="2200" b="0">
                <a:solidFill>
                  <a:srgbClr val="07A74F"/>
                </a:solidFill>
                <a:latin typeface="Comfortaa"/>
              </a:rPr>
              <a:t>Infraestructura Cloud</a:t>
            </a:r>
          </a:p>
        </p:txBody>
      </p:sp>
      <p:sp>
        <p:nvSpPr>
          <p:cNvPr id="5" name="TextBox 4"/>
          <p:cNvSpPr txBox="1"/>
          <p:nvPr/>
        </p:nvSpPr>
        <p:spPr>
          <a:xfrm>
            <a:off x="0" y="5897880"/>
            <a:ext cx="12188952" cy="548640"/>
          </a:xfrm>
          <a:prstGeom prst="rect">
            <a:avLst/>
          </a:prstGeom>
          <a:noFill/>
        </p:spPr>
        <p:txBody>
          <a:bodyPr wrap="square">
            <a:spAutoFit/>
          </a:bodyPr>
          <a:lstStyle/>
          <a:p>
            <a:pPr algn="ctr"/>
            <a:r>
              <a:rPr sz="1800" b="1">
                <a:solidFill>
                  <a:srgbClr val="FFFFFF"/>
                </a:solidFill>
                <a:latin typeface="Comfortaa"/>
              </a:rPr>
              <a:t>dataquantum Learning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