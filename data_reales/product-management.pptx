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2060"/>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17920"/>
            <a:ext cx="12188952" cy="64008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0"/>
            <a:ext cx="7315200" cy="457200"/>
          </a:xfrm>
          <a:prstGeom prst="rect">
            <a:avLst/>
          </a:prstGeom>
          <a:noFill/>
        </p:spPr>
        <p:txBody>
          <a:bodyPr wrap="square">
            <a:spAutoFit/>
          </a:bodyPr>
          <a:lstStyle/>
          <a:p>
            <a:pPr algn="l"/>
            <a:r>
              <a:rPr sz="1300" b="0">
                <a:solidFill>
                  <a:srgbClr val="07A74F"/>
                </a:solidFill>
                <a:latin typeface="Comfortaa"/>
              </a:rPr>
              <a:t>PRODUCTO</a:t>
            </a:r>
          </a:p>
        </p:txBody>
      </p:sp>
      <p:sp>
        <p:nvSpPr>
          <p:cNvPr id="5" name="TextBox 4"/>
          <p:cNvSpPr txBox="1"/>
          <p:nvPr/>
        </p:nvSpPr>
        <p:spPr>
          <a:xfrm>
            <a:off x="548640" y="1645920"/>
            <a:ext cx="10515600" cy="1828800"/>
          </a:xfrm>
          <a:prstGeom prst="rect">
            <a:avLst/>
          </a:prstGeom>
          <a:noFill/>
        </p:spPr>
        <p:txBody>
          <a:bodyPr wrap="square">
            <a:spAutoFit/>
          </a:bodyPr>
          <a:lstStyle/>
          <a:p>
            <a:pPr algn="l"/>
            <a:r>
              <a:rPr sz="4600" b="1">
                <a:solidFill>
                  <a:srgbClr val="FFFFFF"/>
                </a:solidFill>
                <a:latin typeface="Comfortaa"/>
              </a:rPr>
              <a:t>Product Management</a:t>
            </a:r>
          </a:p>
        </p:txBody>
      </p:sp>
      <p:sp>
        <p:nvSpPr>
          <p:cNvPr id="6" name="TextBox 5"/>
          <p:cNvSpPr txBox="1"/>
          <p:nvPr/>
        </p:nvSpPr>
        <p:spPr>
          <a:xfrm>
            <a:off x="548640" y="3566160"/>
            <a:ext cx="8686800" cy="914400"/>
          </a:xfrm>
          <a:prstGeom prst="rect">
            <a:avLst/>
          </a:prstGeom>
          <a:noFill/>
        </p:spPr>
        <p:txBody>
          <a:bodyPr wrap="square">
            <a:spAutoFit/>
          </a:bodyPr>
          <a:lstStyle/>
          <a:p>
            <a:pPr algn="l"/>
            <a:r>
              <a:rPr sz="1800" b="0">
                <a:solidFill>
                  <a:srgbClr val="CCDDFF"/>
                </a:solidFill>
                <a:latin typeface="Comfortaa"/>
              </a:rPr>
              <a:t>Definición de visión, roadmap y priorización de producto orientado al usuario.</a:t>
            </a:r>
          </a:p>
        </p:txBody>
      </p:sp>
      <p:sp>
        <p:nvSpPr>
          <p:cNvPr id="7" name="TextBox 6"/>
          <p:cNvSpPr txBox="1"/>
          <p:nvPr/>
        </p:nvSpPr>
        <p:spPr>
          <a:xfrm>
            <a:off x="548640" y="4572000"/>
            <a:ext cx="4572000" cy="457200"/>
          </a:xfrm>
          <a:prstGeom prst="rect">
            <a:avLst/>
          </a:prstGeom>
          <a:noFill/>
        </p:spPr>
        <p:txBody>
          <a:bodyPr wrap="square">
            <a:spAutoFit/>
          </a:bodyPr>
          <a:lstStyle/>
          <a:p>
            <a:pPr algn="l"/>
            <a:r>
              <a:rPr sz="1500" b="0">
                <a:solidFill>
                  <a:srgbClr val="FF8C00"/>
                </a:solidFill>
                <a:latin typeface="Comfortaa"/>
              </a:rPr>
              <a:t>Nivel: Intermedio-Avanzado</a:t>
            </a:r>
          </a:p>
        </p:txBody>
      </p:sp>
      <p:sp>
        <p:nvSpPr>
          <p:cNvPr id="8" name="TextBox 7"/>
          <p:cNvSpPr txBox="1"/>
          <p:nvPr/>
        </p:nvSpPr>
        <p:spPr>
          <a:xfrm>
            <a:off x="8686800" y="6263640"/>
            <a:ext cx="3200400" cy="457200"/>
          </a:xfrm>
          <a:prstGeom prst="rect">
            <a:avLst/>
          </a:prstGeom>
          <a:noFill/>
        </p:spPr>
        <p:txBody>
          <a:bodyPr wrap="square">
            <a:spAutoFit/>
          </a:bodyPr>
          <a:lstStyle/>
          <a:p>
            <a:pPr algn="r"/>
            <a:r>
              <a:rPr sz="1600" b="1">
                <a:solidFill>
                  <a:srgbClr val="FFFFFF"/>
                </a:solidFill>
                <a:latin typeface="Comfortaa"/>
              </a:rPr>
              <a:t>dataquantum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9144000" cy="822960"/>
          </a:xfrm>
          <a:prstGeom prst="rect">
            <a:avLst/>
          </a:prstGeom>
          <a:noFill/>
        </p:spPr>
        <p:txBody>
          <a:bodyPr wrap="square">
            <a:spAutoFit/>
          </a:bodyPr>
          <a:lstStyle/>
          <a:p>
            <a:pPr algn="l"/>
            <a:r>
              <a:rPr sz="3000" b="1">
                <a:solidFill>
                  <a:srgbClr val="FFFFFF"/>
                </a:solidFill>
                <a:latin typeface="Comfortaa"/>
              </a:rPr>
              <a:t>Índice de Módulos</a:t>
            </a:r>
          </a:p>
        </p:txBody>
      </p:sp>
      <p:sp>
        <p:nvSpPr>
          <p:cNvPr id="4" name="TextBox 3"/>
          <p:cNvSpPr txBox="1"/>
          <p:nvPr/>
        </p:nvSpPr>
        <p:spPr>
          <a:xfrm>
            <a:off x="457200" y="868680"/>
            <a:ext cx="9144000" cy="411480"/>
          </a:xfrm>
          <a:prstGeom prst="rect">
            <a:avLst/>
          </a:prstGeom>
          <a:noFill/>
        </p:spPr>
        <p:txBody>
          <a:bodyPr wrap="square">
            <a:spAutoFit/>
          </a:bodyPr>
          <a:lstStyle/>
          <a:p>
            <a:pPr algn="l"/>
            <a:r>
              <a:rPr sz="1400" b="0">
                <a:solidFill>
                  <a:srgbClr val="07A74F"/>
                </a:solidFill>
                <a:latin typeface="Comfortaa"/>
              </a:rPr>
              <a:t>Product Management</a:t>
            </a:r>
          </a:p>
        </p:txBody>
      </p:sp>
      <p:sp>
        <p:nvSpPr>
          <p:cNvPr id="5" name="Rectangle 4"/>
          <p:cNvSpPr/>
          <p:nvPr/>
        </p:nvSpPr>
        <p:spPr>
          <a:xfrm>
            <a:off x="0" y="1280160"/>
            <a:ext cx="12188952" cy="54864"/>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508760"/>
            <a:ext cx="502920" cy="502920"/>
          </a:xfrm>
          <a:prstGeom prst="rect">
            <a:avLst/>
          </a:prstGeom>
          <a:noFill/>
        </p:spPr>
        <p:txBody>
          <a:bodyPr wrap="square">
            <a:spAutoFit/>
          </a:bodyPr>
          <a:lstStyle/>
          <a:p>
            <a:pPr algn="ctr"/>
            <a:r>
              <a:rPr sz="1800" b="1">
                <a:solidFill>
                  <a:srgbClr val="FFFFFF"/>
                </a:solidFill>
                <a:latin typeface="Comfortaa"/>
              </a:rPr>
              <a:t>1</a:t>
            </a:r>
          </a:p>
        </p:txBody>
      </p:sp>
      <p:sp>
        <p:nvSpPr>
          <p:cNvPr id="8" name="TextBox 7"/>
          <p:cNvSpPr txBox="1"/>
          <p:nvPr/>
        </p:nvSpPr>
        <p:spPr>
          <a:xfrm>
            <a:off x="1005840" y="1536192"/>
            <a:ext cx="5029200" cy="457200"/>
          </a:xfrm>
          <a:prstGeom prst="rect">
            <a:avLst/>
          </a:prstGeom>
          <a:noFill/>
        </p:spPr>
        <p:txBody>
          <a:bodyPr wrap="square">
            <a:spAutoFit/>
          </a:bodyPr>
          <a:lstStyle/>
          <a:p>
            <a:pPr algn="l"/>
            <a:r>
              <a:rPr sz="1700" b="1">
                <a:solidFill>
                  <a:srgbClr val="002060"/>
                </a:solidFill>
                <a:latin typeface="Comfortaa"/>
              </a:rPr>
              <a:t>Fundamentos de Product Management</a:t>
            </a:r>
          </a:p>
        </p:txBody>
      </p:sp>
      <p:sp>
        <p:nvSpPr>
          <p:cNvPr id="9" name="TextBox 8"/>
          <p:cNvSpPr txBox="1"/>
          <p:nvPr/>
        </p:nvSpPr>
        <p:spPr>
          <a:xfrm>
            <a:off x="1005840" y="1965960"/>
            <a:ext cx="10515600" cy="411480"/>
          </a:xfrm>
          <a:prstGeom prst="rect">
            <a:avLst/>
          </a:prstGeom>
          <a:noFill/>
        </p:spPr>
        <p:txBody>
          <a:bodyPr wrap="square">
            <a:spAutoFit/>
          </a:bodyPr>
          <a:lstStyle/>
          <a:p>
            <a:pPr algn="l"/>
            <a:r>
              <a:rPr sz="1200" b="0">
                <a:solidFill>
                  <a:srgbClr val="444444"/>
                </a:solidFill>
                <a:latin typeface="Comfortaa"/>
              </a:rPr>
              <a:t>El rol del Product Manager  ·  Discovery vs Delivery  ·  Product-Market Fit</a:t>
            </a:r>
          </a:p>
        </p:txBody>
      </p:sp>
      <p:sp>
        <p:nvSpPr>
          <p:cNvPr id="10" name="Rectangle 9"/>
          <p:cNvSpPr/>
          <p:nvPr/>
        </p:nvSpPr>
        <p:spPr>
          <a:xfrm>
            <a:off x="365760" y="246888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2468880"/>
            <a:ext cx="502920" cy="502920"/>
          </a:xfrm>
          <a:prstGeom prst="rect">
            <a:avLst/>
          </a:prstGeom>
          <a:noFill/>
        </p:spPr>
        <p:txBody>
          <a:bodyPr wrap="square">
            <a:spAutoFit/>
          </a:bodyPr>
          <a:lstStyle/>
          <a:p>
            <a:pPr algn="ctr"/>
            <a:r>
              <a:rPr sz="1800" b="1">
                <a:solidFill>
                  <a:srgbClr val="FFFFFF"/>
                </a:solidFill>
                <a:latin typeface="Comfortaa"/>
              </a:rPr>
              <a:t>2</a:t>
            </a:r>
          </a:p>
        </p:txBody>
      </p:sp>
      <p:sp>
        <p:nvSpPr>
          <p:cNvPr id="12" name="TextBox 11"/>
          <p:cNvSpPr txBox="1"/>
          <p:nvPr/>
        </p:nvSpPr>
        <p:spPr>
          <a:xfrm>
            <a:off x="1005840" y="2496312"/>
            <a:ext cx="5029200" cy="457200"/>
          </a:xfrm>
          <a:prstGeom prst="rect">
            <a:avLst/>
          </a:prstGeom>
          <a:noFill/>
        </p:spPr>
        <p:txBody>
          <a:bodyPr wrap="square">
            <a:spAutoFit/>
          </a:bodyPr>
          <a:lstStyle/>
          <a:p>
            <a:pPr algn="l"/>
            <a:r>
              <a:rPr sz="1700" b="1">
                <a:solidFill>
                  <a:srgbClr val="002060"/>
                </a:solidFill>
                <a:latin typeface="Comfortaa"/>
              </a:rPr>
              <a:t>Estrategia de Producto</a:t>
            </a:r>
          </a:p>
        </p:txBody>
      </p:sp>
      <p:sp>
        <p:nvSpPr>
          <p:cNvPr id="13" name="TextBox 12"/>
          <p:cNvSpPr txBox="1"/>
          <p:nvPr/>
        </p:nvSpPr>
        <p:spPr>
          <a:xfrm>
            <a:off x="1005840" y="2926080"/>
            <a:ext cx="10515600" cy="411480"/>
          </a:xfrm>
          <a:prstGeom prst="rect">
            <a:avLst/>
          </a:prstGeom>
          <a:noFill/>
        </p:spPr>
        <p:txBody>
          <a:bodyPr wrap="square">
            <a:spAutoFit/>
          </a:bodyPr>
          <a:lstStyle/>
          <a:p>
            <a:pPr algn="l"/>
            <a:r>
              <a:rPr sz="1200" b="0">
                <a:solidFill>
                  <a:srgbClr val="444444"/>
                </a:solidFill>
                <a:latin typeface="Comfortaa"/>
              </a:rPr>
              <a:t>Visión y misión  ·  OKRs de producto  ·  Roadmap estratégico</a:t>
            </a:r>
          </a:p>
        </p:txBody>
      </p:sp>
      <p:sp>
        <p:nvSpPr>
          <p:cNvPr id="14" name="Rectangle 13"/>
          <p:cNvSpPr/>
          <p:nvPr/>
        </p:nvSpPr>
        <p:spPr>
          <a:xfrm>
            <a:off x="365760" y="342900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429000"/>
            <a:ext cx="502920" cy="502920"/>
          </a:xfrm>
          <a:prstGeom prst="rect">
            <a:avLst/>
          </a:prstGeom>
          <a:noFill/>
        </p:spPr>
        <p:txBody>
          <a:bodyPr wrap="square">
            <a:spAutoFit/>
          </a:bodyPr>
          <a:lstStyle/>
          <a:p>
            <a:pPr algn="ctr"/>
            <a:r>
              <a:rPr sz="1800" b="1">
                <a:solidFill>
                  <a:srgbClr val="FFFFFF"/>
                </a:solidFill>
                <a:latin typeface="Comfortaa"/>
              </a:rPr>
              <a:t>3</a:t>
            </a:r>
          </a:p>
        </p:txBody>
      </p:sp>
      <p:sp>
        <p:nvSpPr>
          <p:cNvPr id="16" name="TextBox 15"/>
          <p:cNvSpPr txBox="1"/>
          <p:nvPr/>
        </p:nvSpPr>
        <p:spPr>
          <a:xfrm>
            <a:off x="1005840" y="3456432"/>
            <a:ext cx="5029200" cy="457200"/>
          </a:xfrm>
          <a:prstGeom prst="rect">
            <a:avLst/>
          </a:prstGeom>
          <a:noFill/>
        </p:spPr>
        <p:txBody>
          <a:bodyPr wrap="square">
            <a:spAutoFit/>
          </a:bodyPr>
          <a:lstStyle/>
          <a:p>
            <a:pPr algn="l"/>
            <a:r>
              <a:rPr sz="1700" b="1">
                <a:solidFill>
                  <a:srgbClr val="002060"/>
                </a:solidFill>
                <a:latin typeface="Comfortaa"/>
              </a:rPr>
              <a:t>Discovery y User Research</a:t>
            </a:r>
          </a:p>
        </p:txBody>
      </p:sp>
      <p:sp>
        <p:nvSpPr>
          <p:cNvPr id="17" name="TextBox 16"/>
          <p:cNvSpPr txBox="1"/>
          <p:nvPr/>
        </p:nvSpPr>
        <p:spPr>
          <a:xfrm>
            <a:off x="1005840" y="3886200"/>
            <a:ext cx="10515600" cy="411480"/>
          </a:xfrm>
          <a:prstGeom prst="rect">
            <a:avLst/>
          </a:prstGeom>
          <a:noFill/>
        </p:spPr>
        <p:txBody>
          <a:bodyPr wrap="square">
            <a:spAutoFit/>
          </a:bodyPr>
          <a:lstStyle/>
          <a:p>
            <a:pPr algn="l"/>
            <a:r>
              <a:rPr sz="1200" b="0">
                <a:solidFill>
                  <a:srgbClr val="444444"/>
                </a:solidFill>
                <a:latin typeface="Comfortaa"/>
              </a:rPr>
              <a:t>Entrevistas a usuarios  ·  Jobs To Be Done  ·  Prototipado y validación</a:t>
            </a:r>
          </a:p>
        </p:txBody>
      </p:sp>
      <p:sp>
        <p:nvSpPr>
          <p:cNvPr id="18" name="Rectangle 17"/>
          <p:cNvSpPr/>
          <p:nvPr/>
        </p:nvSpPr>
        <p:spPr>
          <a:xfrm>
            <a:off x="365760" y="438912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4389120"/>
            <a:ext cx="502920" cy="502920"/>
          </a:xfrm>
          <a:prstGeom prst="rect">
            <a:avLst/>
          </a:prstGeom>
          <a:noFill/>
        </p:spPr>
        <p:txBody>
          <a:bodyPr wrap="square">
            <a:spAutoFit/>
          </a:bodyPr>
          <a:lstStyle/>
          <a:p>
            <a:pPr algn="ctr"/>
            <a:r>
              <a:rPr sz="1800" b="1">
                <a:solidFill>
                  <a:srgbClr val="FFFFFF"/>
                </a:solidFill>
                <a:latin typeface="Comfortaa"/>
              </a:rPr>
              <a:t>4</a:t>
            </a:r>
          </a:p>
        </p:txBody>
      </p:sp>
      <p:sp>
        <p:nvSpPr>
          <p:cNvPr id="20" name="TextBox 19"/>
          <p:cNvSpPr txBox="1"/>
          <p:nvPr/>
        </p:nvSpPr>
        <p:spPr>
          <a:xfrm>
            <a:off x="1005840" y="4416552"/>
            <a:ext cx="5029200" cy="457200"/>
          </a:xfrm>
          <a:prstGeom prst="rect">
            <a:avLst/>
          </a:prstGeom>
          <a:noFill/>
        </p:spPr>
        <p:txBody>
          <a:bodyPr wrap="square">
            <a:spAutoFit/>
          </a:bodyPr>
          <a:lstStyle/>
          <a:p>
            <a:pPr algn="l"/>
            <a:r>
              <a:rPr sz="1700" b="1">
                <a:solidFill>
                  <a:srgbClr val="002060"/>
                </a:solidFill>
                <a:latin typeface="Comfortaa"/>
              </a:rPr>
              <a:t>Priorización</a:t>
            </a:r>
          </a:p>
        </p:txBody>
      </p:sp>
      <p:sp>
        <p:nvSpPr>
          <p:cNvPr id="21" name="TextBox 20"/>
          <p:cNvSpPr txBox="1"/>
          <p:nvPr/>
        </p:nvSpPr>
        <p:spPr>
          <a:xfrm>
            <a:off x="1005840" y="4846320"/>
            <a:ext cx="10515600" cy="411480"/>
          </a:xfrm>
          <a:prstGeom prst="rect">
            <a:avLst/>
          </a:prstGeom>
          <a:noFill/>
        </p:spPr>
        <p:txBody>
          <a:bodyPr wrap="square">
            <a:spAutoFit/>
          </a:bodyPr>
          <a:lstStyle/>
          <a:p>
            <a:pPr algn="l"/>
            <a:r>
              <a:rPr sz="1200" b="0">
                <a:solidFill>
                  <a:srgbClr val="444444"/>
                </a:solidFill>
                <a:latin typeface="Comfortaa"/>
              </a:rPr>
              <a:t>RICE y ICE scoring  ·  Kano model  ·  MoSCoW</a:t>
            </a:r>
          </a:p>
        </p:txBody>
      </p:sp>
      <p:sp>
        <p:nvSpPr>
          <p:cNvPr id="22" name="Rectangle 21"/>
          <p:cNvSpPr/>
          <p:nvPr/>
        </p:nvSpPr>
        <p:spPr>
          <a:xfrm>
            <a:off x="365760" y="534924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5349240"/>
            <a:ext cx="502920" cy="502920"/>
          </a:xfrm>
          <a:prstGeom prst="rect">
            <a:avLst/>
          </a:prstGeom>
          <a:noFill/>
        </p:spPr>
        <p:txBody>
          <a:bodyPr wrap="square">
            <a:spAutoFit/>
          </a:bodyPr>
          <a:lstStyle/>
          <a:p>
            <a:pPr algn="ctr"/>
            <a:r>
              <a:rPr sz="1800" b="1">
                <a:solidFill>
                  <a:srgbClr val="FFFFFF"/>
                </a:solidFill>
                <a:latin typeface="Comfortaa"/>
              </a:rPr>
              <a:t>5</a:t>
            </a:r>
          </a:p>
        </p:txBody>
      </p:sp>
      <p:sp>
        <p:nvSpPr>
          <p:cNvPr id="24" name="TextBox 23"/>
          <p:cNvSpPr txBox="1"/>
          <p:nvPr/>
        </p:nvSpPr>
        <p:spPr>
          <a:xfrm>
            <a:off x="1005840" y="5376672"/>
            <a:ext cx="5029200" cy="457200"/>
          </a:xfrm>
          <a:prstGeom prst="rect">
            <a:avLst/>
          </a:prstGeom>
          <a:noFill/>
        </p:spPr>
        <p:txBody>
          <a:bodyPr wrap="square">
            <a:spAutoFit/>
          </a:bodyPr>
          <a:lstStyle/>
          <a:p>
            <a:pPr algn="l"/>
            <a:r>
              <a:rPr sz="1700" b="1">
                <a:solidFill>
                  <a:srgbClr val="002060"/>
                </a:solidFill>
                <a:latin typeface="Comfortaa"/>
              </a:rPr>
              <a:t>Métricas de Producto</a:t>
            </a:r>
          </a:p>
        </p:txBody>
      </p:sp>
      <p:sp>
        <p:nvSpPr>
          <p:cNvPr id="25" name="TextBox 24"/>
          <p:cNvSpPr txBox="1"/>
          <p:nvPr/>
        </p:nvSpPr>
        <p:spPr>
          <a:xfrm>
            <a:off x="1005840" y="5806440"/>
            <a:ext cx="10515600" cy="411480"/>
          </a:xfrm>
          <a:prstGeom prst="rect">
            <a:avLst/>
          </a:prstGeom>
          <a:noFill/>
        </p:spPr>
        <p:txBody>
          <a:bodyPr wrap="square">
            <a:spAutoFit/>
          </a:bodyPr>
          <a:lstStyle/>
          <a:p>
            <a:pPr algn="l"/>
            <a:r>
              <a:rPr sz="1200" b="0">
                <a:solidFill>
                  <a:srgbClr val="444444"/>
                </a:solidFill>
                <a:latin typeface="Comfortaa"/>
              </a:rPr>
              <a:t>North Star Metric  ·  Funnel de conversión  ·  Análisis de retención</a:t>
            </a:r>
          </a:p>
        </p:txBody>
      </p:sp>
      <p:sp>
        <p:nvSpPr>
          <p:cNvPr id="26" name="Rectangle 25"/>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A74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7315200" cy="548640"/>
          </a:xfrm>
          <a:prstGeom prst="rect">
            <a:avLst/>
          </a:prstGeom>
          <a:noFill/>
        </p:spPr>
        <p:txBody>
          <a:bodyPr wrap="square">
            <a:spAutoFit/>
          </a:bodyPr>
          <a:lstStyle/>
          <a:p>
            <a:pPr algn="l"/>
            <a:r>
              <a:rPr sz="2000" b="1">
                <a:solidFill>
                  <a:srgbClr val="FFFFFF"/>
                </a:solidFill>
                <a:latin typeface="Comfortaa"/>
              </a:rPr>
              <a:t>MÓDULO 1</a:t>
            </a:r>
          </a:p>
        </p:txBody>
      </p:sp>
      <p:sp>
        <p:nvSpPr>
          <p:cNvPr id="4" name="TextBox 3"/>
          <p:cNvSpPr txBox="1"/>
          <p:nvPr/>
        </p:nvSpPr>
        <p:spPr>
          <a:xfrm>
            <a:off x="548640" y="2011680"/>
            <a:ext cx="10515600" cy="1645920"/>
          </a:xfrm>
          <a:prstGeom prst="rect">
            <a:avLst/>
          </a:prstGeom>
          <a:noFill/>
        </p:spPr>
        <p:txBody>
          <a:bodyPr wrap="square">
            <a:spAutoFit/>
          </a:bodyPr>
          <a:lstStyle/>
          <a:p>
            <a:pPr algn="l"/>
            <a:r>
              <a:rPr sz="4000" b="1">
                <a:solidFill>
                  <a:srgbClr val="FFFFFF"/>
                </a:solidFill>
                <a:latin typeface="Comfortaa"/>
              </a:rPr>
              <a:t>Fundamentos de Product Management</a:t>
            </a:r>
          </a:p>
        </p:txBody>
      </p:sp>
      <p:sp>
        <p:nvSpPr>
          <p:cNvPr id="5" name="TextBox 4"/>
          <p:cNvSpPr txBox="1"/>
          <p:nvPr/>
        </p:nvSpPr>
        <p:spPr>
          <a:xfrm>
            <a:off x="731520" y="3840480"/>
            <a:ext cx="7315200" cy="457200"/>
          </a:xfrm>
          <a:prstGeom prst="rect">
            <a:avLst/>
          </a:prstGeom>
          <a:noFill/>
        </p:spPr>
        <p:txBody>
          <a:bodyPr wrap="square">
            <a:spAutoFit/>
          </a:bodyPr>
          <a:lstStyle/>
          <a:p>
            <a:pPr algn="l"/>
            <a:r>
              <a:rPr sz="1600" b="0">
                <a:solidFill>
                  <a:srgbClr val="FFFFFF"/>
                </a:solidFill>
                <a:latin typeface="Comfortaa"/>
              </a:rPr>
              <a:t>→  El rol del Product Manager</a:t>
            </a:r>
          </a:p>
        </p:txBody>
      </p:sp>
      <p:sp>
        <p:nvSpPr>
          <p:cNvPr id="6" name="TextBox 5"/>
          <p:cNvSpPr txBox="1"/>
          <p:nvPr/>
        </p:nvSpPr>
        <p:spPr>
          <a:xfrm>
            <a:off x="731520" y="4343400"/>
            <a:ext cx="7315200" cy="457200"/>
          </a:xfrm>
          <a:prstGeom prst="rect">
            <a:avLst/>
          </a:prstGeom>
          <a:noFill/>
        </p:spPr>
        <p:txBody>
          <a:bodyPr wrap="square">
            <a:spAutoFit/>
          </a:bodyPr>
          <a:lstStyle/>
          <a:p>
            <a:pPr algn="l"/>
            <a:r>
              <a:rPr sz="1600" b="0">
                <a:solidFill>
                  <a:srgbClr val="FFFFFF"/>
                </a:solidFill>
                <a:latin typeface="Comfortaa"/>
              </a:rPr>
              <a:t>→  Discovery vs Delivery</a:t>
            </a:r>
          </a:p>
        </p:txBody>
      </p:sp>
      <p:sp>
        <p:nvSpPr>
          <p:cNvPr id="7" name="TextBox 6"/>
          <p:cNvSpPr txBox="1"/>
          <p:nvPr/>
        </p:nvSpPr>
        <p:spPr>
          <a:xfrm>
            <a:off x="731520" y="4846320"/>
            <a:ext cx="7315200" cy="457200"/>
          </a:xfrm>
          <a:prstGeom prst="rect">
            <a:avLst/>
          </a:prstGeom>
          <a:noFill/>
        </p:spPr>
        <p:txBody>
          <a:bodyPr wrap="square">
            <a:spAutoFit/>
          </a:bodyPr>
          <a:lstStyle/>
          <a:p>
            <a:pPr algn="l"/>
            <a:r>
              <a:rPr sz="1600" b="0">
                <a:solidFill>
                  <a:srgbClr val="FFFFFF"/>
                </a:solidFill>
                <a:latin typeface="Comfortaa"/>
              </a:rPr>
              <a:t>→  Product-Market Fit</a:t>
            </a:r>
          </a:p>
        </p:txBody>
      </p:sp>
      <p:sp>
        <p:nvSpPr>
          <p:cNvPr id="8" name="Rectangle 7"/>
          <p:cNvSpPr/>
          <p:nvPr/>
        </p:nvSpPr>
        <p:spPr>
          <a:xfrm>
            <a:off x="0" y="6309360"/>
            <a:ext cx="12188952" cy="5486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27648"/>
            <a:ext cx="10972800" cy="365760"/>
          </a:xfrm>
          <a:prstGeom prst="rect">
            <a:avLst/>
          </a:prstGeom>
          <a:noFill/>
        </p:spPr>
        <p:txBody>
          <a:bodyPr wrap="square">
            <a:spAutoFit/>
          </a:bodyPr>
          <a:lstStyle/>
          <a:p>
            <a:pPr algn="l"/>
            <a:r>
              <a:rPr sz="1300" b="0">
                <a:solidFill>
                  <a:srgbClr val="FFFFFF"/>
                </a:solidFill>
                <a:latin typeface="Comfortaa"/>
              </a:rPr>
              <a:t>dataquantum  ·  Product Management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Fundamentos de Product Management</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Product Management: La Disciplina del Producto Digital</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El Product Manager es el CEO del producto: define qué se construye, por qué y para quién, sin tener autoridad directa sobre el equipo. Es el puente entre las necesidades del usuario, los objetivos del negocio y las capacidades técnicas.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1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Fundamentos de Product Management</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El Rol del Product Manager</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El PM no es el jefe del equipo: es su servidor. Sus responsabilidades: entender profundamente al usuario, definir la visión del producto, priorizar el backlog, tomar decisiones de producto basadas en datos y comunicar la estrategia a todos los stakeholders.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2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Fundamentos de Product Management</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Discovery vs Delivery</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Discovery: entender el problema correcto antes de construir la solución. Delivery: construir la solución correctamente. El error más común es pasar directamente a delivery sin discovery. El 42% de los productos fracasan por construir algo que nadie quiere (CB Insights).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3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Fundamentos de Product Management</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Product-Market Fit</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El PMF es el momento en que el producto satisface una necesidad de mercado de forma tan efectiva que los usuarios lo adoptan orgánicamente. Sean Ellis lo define como: más del 40% de los usuarios se sentirían 'muy decepcionados' si el producto desapareciera.</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4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Fundamentos de Product Management</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Ejercicio Práctico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Evalúa el Product-Market Fit de un producto digital usando la encuesta de Sean Ellis: diseña las preguntas, define el segmento de usuarios a encuestar, establece los criterios de éxito y describe cómo actuarías si el resultado fuera inferior al 40%.</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5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A74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7315200" cy="548640"/>
          </a:xfrm>
          <a:prstGeom prst="rect">
            <a:avLst/>
          </a:prstGeom>
          <a:noFill/>
        </p:spPr>
        <p:txBody>
          <a:bodyPr wrap="square">
            <a:spAutoFit/>
          </a:bodyPr>
          <a:lstStyle/>
          <a:p>
            <a:pPr algn="l"/>
            <a:r>
              <a:rPr sz="2000" b="1">
                <a:solidFill>
                  <a:srgbClr val="FFFFFF"/>
                </a:solidFill>
                <a:latin typeface="Comfortaa"/>
              </a:rPr>
              <a:t>MÓDULO 2</a:t>
            </a:r>
          </a:p>
        </p:txBody>
      </p:sp>
      <p:sp>
        <p:nvSpPr>
          <p:cNvPr id="4" name="TextBox 3"/>
          <p:cNvSpPr txBox="1"/>
          <p:nvPr/>
        </p:nvSpPr>
        <p:spPr>
          <a:xfrm>
            <a:off x="548640" y="2011680"/>
            <a:ext cx="10515600" cy="1645920"/>
          </a:xfrm>
          <a:prstGeom prst="rect">
            <a:avLst/>
          </a:prstGeom>
          <a:noFill/>
        </p:spPr>
        <p:txBody>
          <a:bodyPr wrap="square">
            <a:spAutoFit/>
          </a:bodyPr>
          <a:lstStyle/>
          <a:p>
            <a:pPr algn="l"/>
            <a:r>
              <a:rPr sz="4000" b="1">
                <a:solidFill>
                  <a:srgbClr val="FFFFFF"/>
                </a:solidFill>
                <a:latin typeface="Comfortaa"/>
              </a:rPr>
              <a:t>Estrategia de Producto</a:t>
            </a:r>
          </a:p>
        </p:txBody>
      </p:sp>
      <p:sp>
        <p:nvSpPr>
          <p:cNvPr id="5" name="TextBox 4"/>
          <p:cNvSpPr txBox="1"/>
          <p:nvPr/>
        </p:nvSpPr>
        <p:spPr>
          <a:xfrm>
            <a:off x="731520" y="3840480"/>
            <a:ext cx="7315200" cy="457200"/>
          </a:xfrm>
          <a:prstGeom prst="rect">
            <a:avLst/>
          </a:prstGeom>
          <a:noFill/>
        </p:spPr>
        <p:txBody>
          <a:bodyPr wrap="square">
            <a:spAutoFit/>
          </a:bodyPr>
          <a:lstStyle/>
          <a:p>
            <a:pPr algn="l"/>
            <a:r>
              <a:rPr sz="1600" b="0">
                <a:solidFill>
                  <a:srgbClr val="FFFFFF"/>
                </a:solidFill>
                <a:latin typeface="Comfortaa"/>
              </a:rPr>
              <a:t>→  Visión y misión</a:t>
            </a:r>
          </a:p>
        </p:txBody>
      </p:sp>
      <p:sp>
        <p:nvSpPr>
          <p:cNvPr id="6" name="TextBox 5"/>
          <p:cNvSpPr txBox="1"/>
          <p:nvPr/>
        </p:nvSpPr>
        <p:spPr>
          <a:xfrm>
            <a:off x="731520" y="4343400"/>
            <a:ext cx="7315200" cy="457200"/>
          </a:xfrm>
          <a:prstGeom prst="rect">
            <a:avLst/>
          </a:prstGeom>
          <a:noFill/>
        </p:spPr>
        <p:txBody>
          <a:bodyPr wrap="square">
            <a:spAutoFit/>
          </a:bodyPr>
          <a:lstStyle/>
          <a:p>
            <a:pPr algn="l"/>
            <a:r>
              <a:rPr sz="1600" b="0">
                <a:solidFill>
                  <a:srgbClr val="FFFFFF"/>
                </a:solidFill>
                <a:latin typeface="Comfortaa"/>
              </a:rPr>
              <a:t>→  OKRs de producto</a:t>
            </a:r>
          </a:p>
        </p:txBody>
      </p:sp>
      <p:sp>
        <p:nvSpPr>
          <p:cNvPr id="7" name="TextBox 6"/>
          <p:cNvSpPr txBox="1"/>
          <p:nvPr/>
        </p:nvSpPr>
        <p:spPr>
          <a:xfrm>
            <a:off x="731520" y="4846320"/>
            <a:ext cx="7315200" cy="457200"/>
          </a:xfrm>
          <a:prstGeom prst="rect">
            <a:avLst/>
          </a:prstGeom>
          <a:noFill/>
        </p:spPr>
        <p:txBody>
          <a:bodyPr wrap="square">
            <a:spAutoFit/>
          </a:bodyPr>
          <a:lstStyle/>
          <a:p>
            <a:pPr algn="l"/>
            <a:r>
              <a:rPr sz="1600" b="0">
                <a:solidFill>
                  <a:srgbClr val="FFFFFF"/>
                </a:solidFill>
                <a:latin typeface="Comfortaa"/>
              </a:rPr>
              <a:t>→  Roadmap estratégico</a:t>
            </a:r>
          </a:p>
        </p:txBody>
      </p:sp>
      <p:sp>
        <p:nvSpPr>
          <p:cNvPr id="8" name="Rectangle 7"/>
          <p:cNvSpPr/>
          <p:nvPr/>
        </p:nvSpPr>
        <p:spPr>
          <a:xfrm>
            <a:off x="0" y="6309360"/>
            <a:ext cx="12188952" cy="5486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27648"/>
            <a:ext cx="10972800" cy="365760"/>
          </a:xfrm>
          <a:prstGeom prst="rect">
            <a:avLst/>
          </a:prstGeom>
          <a:noFill/>
        </p:spPr>
        <p:txBody>
          <a:bodyPr wrap="square">
            <a:spAutoFit/>
          </a:bodyPr>
          <a:lstStyle/>
          <a:p>
            <a:pPr algn="l"/>
            <a:r>
              <a:rPr sz="1300" b="0">
                <a:solidFill>
                  <a:srgbClr val="FFFFFF"/>
                </a:solidFill>
                <a:latin typeface="Comfortaa"/>
              </a:rPr>
              <a:t>dataquantum  ·  Product Management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Estrategia de Producto</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Estrategia de Producto: Del Propósito al Roadmap</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La estrategia de producto conecta la visión a largo plazo con las acciones a corto plazo. Sin estrategia, el roadmap es una lista de features sin coherencia. Con estrategia, cada decisión de producto refuerza el posicionamiento y los objetivos del negocio.</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1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Estrategia de Producto</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Visión y Misión de Producto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La visión describe el futuro que el producto quiere crear: inspiradora, ambiciosa y duradera. La misión describe cómo lo logra: específica, orientada al usuario y medible. Ejemplo: visión 'un mundo donde cualquiera pueda aprender cualquier cosa', misión 'la plataforma de aprendizaje más accesible'.</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2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Estrategia de Producto</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OKRs de Producto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Los OKRs (Objectives and Key Results) alinean el equipo de producto con los objetivos del negocio. Objetivo: cualitativo e inspirador. Key Results: 3-5 métricas cuantificables que miden el progreso. Los OKRs de producto se revisan trimestralmente y guían las decisiones de priorización.</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3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Estrategia de Producto</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Roadmap Estratégico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El roadmap no es una lista de features con fechas: es la representación visual de la estrategia de producto. Los mejores roadmaps comunican problemas a resolver, no soluciones a construir. Now/Next/Later es el formato más flexible y honesto para comunicar la dirección.</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4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Estrategia de Producto</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Ejercicio Práctico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Crea la estrategia de producto para una app de fitness: define la visión (3 años), la misión, 3 OKRs para el próximo trimestre y un roadmap Now/Next/Later con los 5 problemas de usuario más importantes a resolver en cada horizonte.</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5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7A74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7315200" cy="548640"/>
          </a:xfrm>
          <a:prstGeom prst="rect">
            <a:avLst/>
          </a:prstGeom>
          <a:noFill/>
        </p:spPr>
        <p:txBody>
          <a:bodyPr wrap="square">
            <a:spAutoFit/>
          </a:bodyPr>
          <a:lstStyle/>
          <a:p>
            <a:pPr algn="l"/>
            <a:r>
              <a:rPr sz="2000" b="1">
                <a:solidFill>
                  <a:srgbClr val="FFFFFF"/>
                </a:solidFill>
                <a:latin typeface="Comfortaa"/>
              </a:rPr>
              <a:t>MÓDULO 3</a:t>
            </a:r>
          </a:p>
        </p:txBody>
      </p:sp>
      <p:sp>
        <p:nvSpPr>
          <p:cNvPr id="4" name="TextBox 3"/>
          <p:cNvSpPr txBox="1"/>
          <p:nvPr/>
        </p:nvSpPr>
        <p:spPr>
          <a:xfrm>
            <a:off x="548640" y="2011680"/>
            <a:ext cx="10515600" cy="1645920"/>
          </a:xfrm>
          <a:prstGeom prst="rect">
            <a:avLst/>
          </a:prstGeom>
          <a:noFill/>
        </p:spPr>
        <p:txBody>
          <a:bodyPr wrap="square">
            <a:spAutoFit/>
          </a:bodyPr>
          <a:lstStyle/>
          <a:p>
            <a:pPr algn="l"/>
            <a:r>
              <a:rPr sz="4000" b="1">
                <a:solidFill>
                  <a:srgbClr val="FFFFFF"/>
                </a:solidFill>
                <a:latin typeface="Comfortaa"/>
              </a:rPr>
              <a:t>Discovery y User Research</a:t>
            </a:r>
          </a:p>
        </p:txBody>
      </p:sp>
      <p:sp>
        <p:nvSpPr>
          <p:cNvPr id="5" name="TextBox 4"/>
          <p:cNvSpPr txBox="1"/>
          <p:nvPr/>
        </p:nvSpPr>
        <p:spPr>
          <a:xfrm>
            <a:off x="731520" y="3840480"/>
            <a:ext cx="7315200" cy="457200"/>
          </a:xfrm>
          <a:prstGeom prst="rect">
            <a:avLst/>
          </a:prstGeom>
          <a:noFill/>
        </p:spPr>
        <p:txBody>
          <a:bodyPr wrap="square">
            <a:spAutoFit/>
          </a:bodyPr>
          <a:lstStyle/>
          <a:p>
            <a:pPr algn="l"/>
            <a:r>
              <a:rPr sz="1600" b="0">
                <a:solidFill>
                  <a:srgbClr val="FFFFFF"/>
                </a:solidFill>
                <a:latin typeface="Comfortaa"/>
              </a:rPr>
              <a:t>→  Entrevistas a usuarios</a:t>
            </a:r>
          </a:p>
        </p:txBody>
      </p:sp>
      <p:sp>
        <p:nvSpPr>
          <p:cNvPr id="6" name="TextBox 5"/>
          <p:cNvSpPr txBox="1"/>
          <p:nvPr/>
        </p:nvSpPr>
        <p:spPr>
          <a:xfrm>
            <a:off x="731520" y="4343400"/>
            <a:ext cx="7315200" cy="457200"/>
          </a:xfrm>
          <a:prstGeom prst="rect">
            <a:avLst/>
          </a:prstGeom>
          <a:noFill/>
        </p:spPr>
        <p:txBody>
          <a:bodyPr wrap="square">
            <a:spAutoFit/>
          </a:bodyPr>
          <a:lstStyle/>
          <a:p>
            <a:pPr algn="l"/>
            <a:r>
              <a:rPr sz="1600" b="0">
                <a:solidFill>
                  <a:srgbClr val="FFFFFF"/>
                </a:solidFill>
                <a:latin typeface="Comfortaa"/>
              </a:rPr>
              <a:t>→  Jobs To Be Done</a:t>
            </a:r>
          </a:p>
        </p:txBody>
      </p:sp>
      <p:sp>
        <p:nvSpPr>
          <p:cNvPr id="7" name="TextBox 6"/>
          <p:cNvSpPr txBox="1"/>
          <p:nvPr/>
        </p:nvSpPr>
        <p:spPr>
          <a:xfrm>
            <a:off x="731520" y="4846320"/>
            <a:ext cx="7315200" cy="457200"/>
          </a:xfrm>
          <a:prstGeom prst="rect">
            <a:avLst/>
          </a:prstGeom>
          <a:noFill/>
        </p:spPr>
        <p:txBody>
          <a:bodyPr wrap="square">
            <a:spAutoFit/>
          </a:bodyPr>
          <a:lstStyle/>
          <a:p>
            <a:pPr algn="l"/>
            <a:r>
              <a:rPr sz="1600" b="0">
                <a:solidFill>
                  <a:srgbClr val="FFFFFF"/>
                </a:solidFill>
                <a:latin typeface="Comfortaa"/>
              </a:rPr>
              <a:t>→  Prototipado y validación</a:t>
            </a:r>
          </a:p>
        </p:txBody>
      </p:sp>
      <p:sp>
        <p:nvSpPr>
          <p:cNvPr id="8" name="Rectangle 7"/>
          <p:cNvSpPr/>
          <p:nvPr/>
        </p:nvSpPr>
        <p:spPr>
          <a:xfrm>
            <a:off x="0" y="6309360"/>
            <a:ext cx="12188952" cy="5486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27648"/>
            <a:ext cx="10972800" cy="365760"/>
          </a:xfrm>
          <a:prstGeom prst="rect">
            <a:avLst/>
          </a:prstGeom>
          <a:noFill/>
        </p:spPr>
        <p:txBody>
          <a:bodyPr wrap="square">
            <a:spAutoFit/>
          </a:bodyPr>
          <a:lstStyle/>
          <a:p>
            <a:pPr algn="l"/>
            <a:r>
              <a:rPr sz="1300" b="0">
                <a:solidFill>
                  <a:srgbClr val="FFFFFF"/>
                </a:solidFill>
                <a:latin typeface="Comfortaa"/>
              </a:rPr>
              <a:t>dataquantum  ·  Product Management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Discovery y User Research</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Discovery: Entender el Problema Antes de la Solución</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El product discovery es el proceso de entender qué problemas merecen ser resueltos antes de invertir en construir soluciones. El 70% del valor de un PM está en el discovery: elegir el problema correcto es más importante que construir la solución perfecta.</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1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Discovery y User Research</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Entrevistas a Usuarios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Las entrevistas de usuario revelan motivaciones, frustraciones y comportamientos reales. Reglas de oro: preguntas abiertas ('cuéntame cómo...'), no preguntas de solución ('¿usarías X?'), escuchar más que hablar, preguntar por comportamientos pasados no por intenciones futuras.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2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Discovery y User Research</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Jobs To Be Done (JTBD)</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JTBD es el framework que define el trabajo que el usuario quiere hacer, independientemente de la solución. 'El cliente no quiere un taladro, quiere un agujero en la pared'. Entender el job permite diseñar soluciones que compiten con alternativas inesperadas.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3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Discovery y User Research</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Prototipado y Validación</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El prototipado rápido valida hipótesis antes de construir. Escala de fidelidad: boceto en papel (1 hora) → wireframe (1 día) → prototipo clickable (1 semana) → MVP (1 mes). Cada nivel valida hipótesis más complejas con mayor inversión. Falla barato y rápido.</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4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Discovery y User Research</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Ejercicio Práctico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Realiza 3 entrevistas de usuario para un producto de gestión del tiempo: prepara la guía de entrevista con JTBD, conduce las entrevistas, sintetiza los insights en un mapa de afinidad e identifica los 3 jobs principales que el producto debe resolver.</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5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2060"/>
        </a:solidFill>
        <a:effectLst/>
      </p:bgPr>
    </p:bg>
    <p:spTree>
      <p:nvGrpSpPr>
        <p:cNvPr id="1" name=""/>
        <p:cNvGrpSpPr/>
        <p:nvPr/>
      </p:nvGrpSpPr>
      <p:grpSpPr/>
      <p:sp>
        <p:nvSpPr>
          <p:cNvPr id="2" name="Rectangle 1"/>
          <p:cNvSpPr/>
          <p:nvPr/>
        </p:nvSpPr>
        <p:spPr>
          <a:xfrm>
            <a:off x="0" y="5852160"/>
            <a:ext cx="12188952" cy="100584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1828800"/>
            <a:ext cx="12188952" cy="1097280"/>
          </a:xfrm>
          <a:prstGeom prst="rect">
            <a:avLst/>
          </a:prstGeom>
          <a:noFill/>
        </p:spPr>
        <p:txBody>
          <a:bodyPr wrap="square">
            <a:spAutoFit/>
          </a:bodyPr>
          <a:lstStyle/>
          <a:p>
            <a:pPr algn="ctr"/>
            <a:r>
              <a:rPr sz="4200" b="1">
                <a:solidFill>
                  <a:srgbClr val="FFFFFF"/>
                </a:solidFill>
                <a:latin typeface="Comfortaa"/>
              </a:rPr>
              <a:t>¡Sigue aprendiendo!</a:t>
            </a:r>
          </a:p>
        </p:txBody>
      </p:sp>
      <p:sp>
        <p:nvSpPr>
          <p:cNvPr id="4" name="TextBox 3"/>
          <p:cNvSpPr txBox="1"/>
          <p:nvPr/>
        </p:nvSpPr>
        <p:spPr>
          <a:xfrm>
            <a:off x="0" y="3017520"/>
            <a:ext cx="12188952" cy="640080"/>
          </a:xfrm>
          <a:prstGeom prst="rect">
            <a:avLst/>
          </a:prstGeom>
          <a:noFill/>
        </p:spPr>
        <p:txBody>
          <a:bodyPr wrap="square">
            <a:spAutoFit/>
          </a:bodyPr>
          <a:lstStyle/>
          <a:p>
            <a:pPr algn="ctr"/>
            <a:r>
              <a:rPr sz="2200" b="0">
                <a:solidFill>
                  <a:srgbClr val="07A74F"/>
                </a:solidFill>
                <a:latin typeface="Comfortaa"/>
              </a:rPr>
              <a:t>Product Management</a:t>
            </a:r>
          </a:p>
        </p:txBody>
      </p:sp>
      <p:sp>
        <p:nvSpPr>
          <p:cNvPr id="5" name="TextBox 4"/>
          <p:cNvSpPr txBox="1"/>
          <p:nvPr/>
        </p:nvSpPr>
        <p:spPr>
          <a:xfrm>
            <a:off x="0" y="5897880"/>
            <a:ext cx="12188952" cy="548640"/>
          </a:xfrm>
          <a:prstGeom prst="rect">
            <a:avLst/>
          </a:prstGeom>
          <a:noFill/>
        </p:spPr>
        <p:txBody>
          <a:bodyPr wrap="square">
            <a:spAutoFit/>
          </a:bodyPr>
          <a:lstStyle/>
          <a:p>
            <a:pPr algn="ctr"/>
            <a:r>
              <a:rPr sz="1800" b="1">
                <a:solidFill>
                  <a:srgbClr val="FFFFFF"/>
                </a:solidFill>
                <a:latin typeface="Comfortaa"/>
              </a:rPr>
              <a:t>dataquantum Learning Platform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