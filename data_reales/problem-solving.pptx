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7315200" cy="457200"/>
          </a:xfrm>
          <a:prstGeom prst="rect">
            <a:avLst/>
          </a:prstGeom>
          <a:noFill/>
        </p:spPr>
        <p:txBody>
          <a:bodyPr wrap="square">
            <a:spAutoFit/>
          </a:bodyPr>
          <a:lstStyle/>
          <a:p>
            <a:pPr algn="l"/>
            <a:r>
              <a:rPr sz="1300" b="0">
                <a:solidFill>
                  <a:srgbClr val="07A74F"/>
                </a:solidFill>
                <a:latin typeface="Comfortaa"/>
              </a:rPr>
              <a:t>HABILIDADES TRANSVERSALES</a:t>
            </a:r>
          </a:p>
        </p:txBody>
      </p:sp>
      <p:sp>
        <p:nvSpPr>
          <p:cNvPr id="5" name="TextBox 4"/>
          <p:cNvSpPr txBox="1"/>
          <p:nvPr/>
        </p:nvSpPr>
        <p:spPr>
          <a:xfrm>
            <a:off x="548640" y="1645920"/>
            <a:ext cx="10515600" cy="1828800"/>
          </a:xfrm>
          <a:prstGeom prst="rect">
            <a:avLst/>
          </a:prstGeom>
          <a:noFill/>
        </p:spPr>
        <p:txBody>
          <a:bodyPr wrap="square">
            <a:spAutoFit/>
          </a:bodyPr>
          <a:lstStyle/>
          <a:p>
            <a:pPr algn="l"/>
            <a:r>
              <a:rPr sz="4600" b="1">
                <a:solidFill>
                  <a:srgbClr val="FFFFFF"/>
                </a:solidFill>
                <a:latin typeface="Comfortaa"/>
              </a:rPr>
              <a:t>Resolución de Problemas</a:t>
            </a:r>
          </a:p>
        </p:txBody>
      </p:sp>
      <p:sp>
        <p:nvSpPr>
          <p:cNvPr id="6" name="TextBox 5"/>
          <p:cNvSpPr txBox="1"/>
          <p:nvPr/>
        </p:nvSpPr>
        <p:spPr>
          <a:xfrm>
            <a:off x="548640" y="3566160"/>
            <a:ext cx="8686800" cy="914400"/>
          </a:xfrm>
          <a:prstGeom prst="rect">
            <a:avLst/>
          </a:prstGeom>
          <a:noFill/>
        </p:spPr>
        <p:txBody>
          <a:bodyPr wrap="square">
            <a:spAutoFit/>
          </a:bodyPr>
          <a:lstStyle/>
          <a:p>
            <a:pPr algn="l"/>
            <a:r>
              <a:rPr sz="1800" b="0">
                <a:solidFill>
                  <a:srgbClr val="CCDDFF"/>
                </a:solidFill>
                <a:latin typeface="Comfortaa"/>
              </a:rPr>
              <a:t>Pensamiento analítico para descomponer retos complejos y encontrar soluciones lógicas.</a:t>
            </a:r>
          </a:p>
        </p:txBody>
      </p:sp>
      <p:sp>
        <p:nvSpPr>
          <p:cNvPr id="7" name="TextBox 6"/>
          <p:cNvSpPr txBox="1"/>
          <p:nvPr/>
        </p:nvSpPr>
        <p:spPr>
          <a:xfrm>
            <a:off x="548640" y="4572000"/>
            <a:ext cx="4572000" cy="457200"/>
          </a:xfrm>
          <a:prstGeom prst="rect">
            <a:avLst/>
          </a:prstGeom>
          <a:noFill/>
        </p:spPr>
        <p:txBody>
          <a:bodyPr wrap="square">
            <a:spAutoFit/>
          </a:bodyPr>
          <a:lstStyle/>
          <a:p>
            <a:pPr algn="l"/>
            <a:r>
              <a:rPr sz="1500" b="0">
                <a:solidFill>
                  <a:srgbClr val="FF8C00"/>
                </a:solidFill>
                <a:latin typeface="Comfortaa"/>
              </a:rPr>
              <a:t>Nivel: Todos los niveles</a:t>
            </a:r>
          </a:p>
        </p:txBody>
      </p:sp>
      <p:sp>
        <p:nvSpPr>
          <p:cNvPr id="8" name="TextBox 7"/>
          <p:cNvSpPr txBox="1"/>
          <p:nvPr/>
        </p:nvSpPr>
        <p:spPr>
          <a:xfrm>
            <a:off x="8686800" y="6263640"/>
            <a:ext cx="3200400" cy="457200"/>
          </a:xfrm>
          <a:prstGeom prst="rect">
            <a:avLst/>
          </a:prstGeom>
          <a:noFill/>
        </p:spPr>
        <p:txBody>
          <a:bodyPr wrap="square">
            <a:spAutoFit/>
          </a:bodyPr>
          <a:lstStyle/>
          <a:p>
            <a:pPr algn="r"/>
            <a:r>
              <a:rPr sz="1600" b="1">
                <a:solidFill>
                  <a:srgbClr val="FFFFFF"/>
                </a:solidFill>
                <a:latin typeface="Comfortaa"/>
              </a:rPr>
              <a:t>dataquantum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9144000" cy="822960"/>
          </a:xfrm>
          <a:prstGeom prst="rect">
            <a:avLst/>
          </a:prstGeom>
          <a:noFill/>
        </p:spPr>
        <p:txBody>
          <a:bodyPr wrap="square">
            <a:spAutoFit/>
          </a:bodyPr>
          <a:lstStyle/>
          <a:p>
            <a:pPr algn="l"/>
            <a:r>
              <a:rPr sz="3000" b="1">
                <a:solidFill>
                  <a:srgbClr val="FFFFFF"/>
                </a:solidFill>
                <a:latin typeface="Comfortaa"/>
              </a:rPr>
              <a:t>Índice de Módulos</a:t>
            </a:r>
          </a:p>
        </p:txBody>
      </p:sp>
      <p:sp>
        <p:nvSpPr>
          <p:cNvPr id="4" name="TextBox 3"/>
          <p:cNvSpPr txBox="1"/>
          <p:nvPr/>
        </p:nvSpPr>
        <p:spPr>
          <a:xfrm>
            <a:off x="457200" y="868680"/>
            <a:ext cx="9144000" cy="411480"/>
          </a:xfrm>
          <a:prstGeom prst="rect">
            <a:avLst/>
          </a:prstGeom>
          <a:noFill/>
        </p:spPr>
        <p:txBody>
          <a:bodyPr wrap="square">
            <a:spAutoFit/>
          </a:bodyPr>
          <a:lstStyle/>
          <a:p>
            <a:pPr algn="l"/>
            <a:r>
              <a:rPr sz="1400" b="0">
                <a:solidFill>
                  <a:srgbClr val="07A74F"/>
                </a:solidFill>
                <a:latin typeface="Comfortaa"/>
              </a:rPr>
              <a:t>Resolución de Problemas</a:t>
            </a:r>
          </a:p>
        </p:txBody>
      </p:sp>
      <p:sp>
        <p:nvSpPr>
          <p:cNvPr id="5" name="Rectangle 4"/>
          <p:cNvSpPr/>
          <p:nvPr/>
        </p:nvSpPr>
        <p:spPr>
          <a:xfrm>
            <a:off x="0" y="1280160"/>
            <a:ext cx="12188952" cy="54864"/>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02920" cy="502920"/>
          </a:xfrm>
          <a:prstGeom prst="rect">
            <a:avLst/>
          </a:prstGeom>
          <a:noFill/>
        </p:spPr>
        <p:txBody>
          <a:bodyPr wrap="square">
            <a:spAutoFit/>
          </a:bodyPr>
          <a:lstStyle/>
          <a:p>
            <a:pPr algn="ctr"/>
            <a:r>
              <a:rPr sz="1800" b="1">
                <a:solidFill>
                  <a:srgbClr val="FFFFFF"/>
                </a:solidFill>
                <a:latin typeface="Comfortaa"/>
              </a:rPr>
              <a:t>1</a:t>
            </a:r>
          </a:p>
        </p:txBody>
      </p:sp>
      <p:sp>
        <p:nvSpPr>
          <p:cNvPr id="8" name="TextBox 7"/>
          <p:cNvSpPr txBox="1"/>
          <p:nvPr/>
        </p:nvSpPr>
        <p:spPr>
          <a:xfrm>
            <a:off x="1005840" y="1536192"/>
            <a:ext cx="5029200" cy="457200"/>
          </a:xfrm>
          <a:prstGeom prst="rect">
            <a:avLst/>
          </a:prstGeom>
          <a:noFill/>
        </p:spPr>
        <p:txBody>
          <a:bodyPr wrap="square">
            <a:spAutoFit/>
          </a:bodyPr>
          <a:lstStyle/>
          <a:p>
            <a:pPr algn="l"/>
            <a:r>
              <a:rPr sz="1700" b="1">
                <a:solidFill>
                  <a:srgbClr val="002060"/>
                </a:solidFill>
                <a:latin typeface="Comfortaa"/>
              </a:rPr>
              <a:t>Pensamiento Analítico</a:t>
            </a:r>
          </a:p>
        </p:txBody>
      </p:sp>
      <p:sp>
        <p:nvSpPr>
          <p:cNvPr id="9" name="TextBox 8"/>
          <p:cNvSpPr txBox="1"/>
          <p:nvPr/>
        </p:nvSpPr>
        <p:spPr>
          <a:xfrm>
            <a:off x="1005840" y="1965960"/>
            <a:ext cx="10515600" cy="411480"/>
          </a:xfrm>
          <a:prstGeom prst="rect">
            <a:avLst/>
          </a:prstGeom>
          <a:noFill/>
        </p:spPr>
        <p:txBody>
          <a:bodyPr wrap="square">
            <a:spAutoFit/>
          </a:bodyPr>
          <a:lstStyle/>
          <a:p>
            <a:pPr algn="l"/>
            <a:r>
              <a:rPr sz="1200" b="0">
                <a:solidFill>
                  <a:srgbClr val="444444"/>
                </a:solidFill>
                <a:latin typeface="Comfortaa"/>
              </a:rPr>
              <a:t>Descomposición de problemas  ·  Pensamiento sistémico  ·  Modelos mentales</a:t>
            </a:r>
          </a:p>
        </p:txBody>
      </p:sp>
      <p:sp>
        <p:nvSpPr>
          <p:cNvPr id="10" name="Rectangle 9"/>
          <p:cNvSpPr/>
          <p:nvPr/>
        </p:nvSpPr>
        <p:spPr>
          <a:xfrm>
            <a:off x="365760" y="246888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468880"/>
            <a:ext cx="502920" cy="502920"/>
          </a:xfrm>
          <a:prstGeom prst="rect">
            <a:avLst/>
          </a:prstGeom>
          <a:noFill/>
        </p:spPr>
        <p:txBody>
          <a:bodyPr wrap="square">
            <a:spAutoFit/>
          </a:bodyPr>
          <a:lstStyle/>
          <a:p>
            <a:pPr algn="ctr"/>
            <a:r>
              <a:rPr sz="1800" b="1">
                <a:solidFill>
                  <a:srgbClr val="FFFFFF"/>
                </a:solidFill>
                <a:latin typeface="Comfortaa"/>
              </a:rPr>
              <a:t>2</a:t>
            </a:r>
          </a:p>
        </p:txBody>
      </p:sp>
      <p:sp>
        <p:nvSpPr>
          <p:cNvPr id="12" name="TextBox 11"/>
          <p:cNvSpPr txBox="1"/>
          <p:nvPr/>
        </p:nvSpPr>
        <p:spPr>
          <a:xfrm>
            <a:off x="1005840" y="2496312"/>
            <a:ext cx="5029200" cy="457200"/>
          </a:xfrm>
          <a:prstGeom prst="rect">
            <a:avLst/>
          </a:prstGeom>
          <a:noFill/>
        </p:spPr>
        <p:txBody>
          <a:bodyPr wrap="square">
            <a:spAutoFit/>
          </a:bodyPr>
          <a:lstStyle/>
          <a:p>
            <a:pPr algn="l"/>
            <a:r>
              <a:rPr sz="1700" b="1">
                <a:solidFill>
                  <a:srgbClr val="002060"/>
                </a:solidFill>
                <a:latin typeface="Comfortaa"/>
              </a:rPr>
              <a:t>Frameworks de Resolución</a:t>
            </a:r>
          </a:p>
        </p:txBody>
      </p:sp>
      <p:sp>
        <p:nvSpPr>
          <p:cNvPr id="13" name="TextBox 12"/>
          <p:cNvSpPr txBox="1"/>
          <p:nvPr/>
        </p:nvSpPr>
        <p:spPr>
          <a:xfrm>
            <a:off x="1005840" y="2926080"/>
            <a:ext cx="10515600" cy="411480"/>
          </a:xfrm>
          <a:prstGeom prst="rect">
            <a:avLst/>
          </a:prstGeom>
          <a:noFill/>
        </p:spPr>
        <p:txBody>
          <a:bodyPr wrap="square">
            <a:spAutoFit/>
          </a:bodyPr>
          <a:lstStyle/>
          <a:p>
            <a:pPr algn="l"/>
            <a:r>
              <a:rPr sz="1200" b="0">
                <a:solidFill>
                  <a:srgbClr val="444444"/>
                </a:solidFill>
                <a:latin typeface="Comfortaa"/>
              </a:rPr>
              <a:t>5 Whys y Fishbone  ·  Design Thinking  ·  MECE y árbol de problemas</a:t>
            </a:r>
          </a:p>
        </p:txBody>
      </p:sp>
      <p:sp>
        <p:nvSpPr>
          <p:cNvPr id="14" name="Rectangle 13"/>
          <p:cNvSpPr/>
          <p:nvPr/>
        </p:nvSpPr>
        <p:spPr>
          <a:xfrm>
            <a:off x="365760" y="342900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502920" cy="502920"/>
          </a:xfrm>
          <a:prstGeom prst="rect">
            <a:avLst/>
          </a:prstGeom>
          <a:noFill/>
        </p:spPr>
        <p:txBody>
          <a:bodyPr wrap="square">
            <a:spAutoFit/>
          </a:bodyPr>
          <a:lstStyle/>
          <a:p>
            <a:pPr algn="ctr"/>
            <a:r>
              <a:rPr sz="1800" b="1">
                <a:solidFill>
                  <a:srgbClr val="FFFFFF"/>
                </a:solidFill>
                <a:latin typeface="Comfortaa"/>
              </a:rPr>
              <a:t>3</a:t>
            </a:r>
          </a:p>
        </p:txBody>
      </p:sp>
      <p:sp>
        <p:nvSpPr>
          <p:cNvPr id="16" name="TextBox 15"/>
          <p:cNvSpPr txBox="1"/>
          <p:nvPr/>
        </p:nvSpPr>
        <p:spPr>
          <a:xfrm>
            <a:off x="1005840" y="3456432"/>
            <a:ext cx="5029200" cy="457200"/>
          </a:xfrm>
          <a:prstGeom prst="rect">
            <a:avLst/>
          </a:prstGeom>
          <a:noFill/>
        </p:spPr>
        <p:txBody>
          <a:bodyPr wrap="square">
            <a:spAutoFit/>
          </a:bodyPr>
          <a:lstStyle/>
          <a:p>
            <a:pPr algn="l"/>
            <a:r>
              <a:rPr sz="1700" b="1">
                <a:solidFill>
                  <a:srgbClr val="002060"/>
                </a:solidFill>
                <a:latin typeface="Comfortaa"/>
              </a:rPr>
              <a:t>Toma de Decisiones</a:t>
            </a:r>
          </a:p>
        </p:txBody>
      </p:sp>
      <p:sp>
        <p:nvSpPr>
          <p:cNvPr id="17" name="TextBox 16"/>
          <p:cNvSpPr txBox="1"/>
          <p:nvPr/>
        </p:nvSpPr>
        <p:spPr>
          <a:xfrm>
            <a:off x="1005840" y="3886200"/>
            <a:ext cx="10515600" cy="411480"/>
          </a:xfrm>
          <a:prstGeom prst="rect">
            <a:avLst/>
          </a:prstGeom>
          <a:noFill/>
        </p:spPr>
        <p:txBody>
          <a:bodyPr wrap="square">
            <a:spAutoFit/>
          </a:bodyPr>
          <a:lstStyle/>
          <a:p>
            <a:pPr algn="l"/>
            <a:r>
              <a:rPr sz="1200" b="0">
                <a:solidFill>
                  <a:srgbClr val="444444"/>
                </a:solidFill>
                <a:latin typeface="Comfortaa"/>
              </a:rPr>
              <a:t>Matriz de decisión  ·  Análisis de riesgo  ·  Decisiones bajo incertidumbre</a:t>
            </a:r>
          </a:p>
        </p:txBody>
      </p:sp>
      <p:sp>
        <p:nvSpPr>
          <p:cNvPr id="18" name="Rectangle 17"/>
          <p:cNvSpPr/>
          <p:nvPr/>
        </p:nvSpPr>
        <p:spPr>
          <a:xfrm>
            <a:off x="365760" y="438912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389120"/>
            <a:ext cx="502920" cy="502920"/>
          </a:xfrm>
          <a:prstGeom prst="rect">
            <a:avLst/>
          </a:prstGeom>
          <a:noFill/>
        </p:spPr>
        <p:txBody>
          <a:bodyPr wrap="square">
            <a:spAutoFit/>
          </a:bodyPr>
          <a:lstStyle/>
          <a:p>
            <a:pPr algn="ctr"/>
            <a:r>
              <a:rPr sz="1800" b="1">
                <a:solidFill>
                  <a:srgbClr val="FFFFFF"/>
                </a:solidFill>
                <a:latin typeface="Comfortaa"/>
              </a:rPr>
              <a:t>4</a:t>
            </a:r>
          </a:p>
        </p:txBody>
      </p:sp>
      <p:sp>
        <p:nvSpPr>
          <p:cNvPr id="20" name="TextBox 19"/>
          <p:cNvSpPr txBox="1"/>
          <p:nvPr/>
        </p:nvSpPr>
        <p:spPr>
          <a:xfrm>
            <a:off x="1005840" y="4416552"/>
            <a:ext cx="5029200" cy="457200"/>
          </a:xfrm>
          <a:prstGeom prst="rect">
            <a:avLst/>
          </a:prstGeom>
          <a:noFill/>
        </p:spPr>
        <p:txBody>
          <a:bodyPr wrap="square">
            <a:spAutoFit/>
          </a:bodyPr>
          <a:lstStyle/>
          <a:p>
            <a:pPr algn="l"/>
            <a:r>
              <a:rPr sz="1700" b="1">
                <a:solidFill>
                  <a:srgbClr val="002060"/>
                </a:solidFill>
                <a:latin typeface="Comfortaa"/>
              </a:rPr>
              <a:t>Creatividad e Innovación</a:t>
            </a:r>
          </a:p>
        </p:txBody>
      </p:sp>
      <p:sp>
        <p:nvSpPr>
          <p:cNvPr id="21" name="TextBox 20"/>
          <p:cNvSpPr txBox="1"/>
          <p:nvPr/>
        </p:nvSpPr>
        <p:spPr>
          <a:xfrm>
            <a:off x="1005840" y="4846320"/>
            <a:ext cx="10515600" cy="411480"/>
          </a:xfrm>
          <a:prstGeom prst="rect">
            <a:avLst/>
          </a:prstGeom>
          <a:noFill/>
        </p:spPr>
        <p:txBody>
          <a:bodyPr wrap="square">
            <a:spAutoFit/>
          </a:bodyPr>
          <a:lstStyle/>
          <a:p>
            <a:pPr algn="l"/>
            <a:r>
              <a:rPr sz="1200" b="0">
                <a:solidFill>
                  <a:srgbClr val="444444"/>
                </a:solidFill>
                <a:latin typeface="Comfortaa"/>
              </a:rPr>
              <a:t>Brainstorming efectivo  ·  SCAMPER y lateral thinking  ·  Prototipado rápido</a:t>
            </a:r>
          </a:p>
        </p:txBody>
      </p:sp>
      <p:sp>
        <p:nvSpPr>
          <p:cNvPr id="22" name="Rectangle 21"/>
          <p:cNvSpPr/>
          <p:nvPr/>
        </p:nvSpPr>
        <p:spPr>
          <a:xfrm>
            <a:off x="365760" y="534924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349240"/>
            <a:ext cx="502920" cy="502920"/>
          </a:xfrm>
          <a:prstGeom prst="rect">
            <a:avLst/>
          </a:prstGeom>
          <a:noFill/>
        </p:spPr>
        <p:txBody>
          <a:bodyPr wrap="square">
            <a:spAutoFit/>
          </a:bodyPr>
          <a:lstStyle/>
          <a:p>
            <a:pPr algn="ctr"/>
            <a:r>
              <a:rPr sz="1800" b="1">
                <a:solidFill>
                  <a:srgbClr val="FFFFFF"/>
                </a:solidFill>
                <a:latin typeface="Comfortaa"/>
              </a:rPr>
              <a:t>5</a:t>
            </a:r>
          </a:p>
        </p:txBody>
      </p:sp>
      <p:sp>
        <p:nvSpPr>
          <p:cNvPr id="24" name="TextBox 23"/>
          <p:cNvSpPr txBox="1"/>
          <p:nvPr/>
        </p:nvSpPr>
        <p:spPr>
          <a:xfrm>
            <a:off x="1005840" y="5376672"/>
            <a:ext cx="5029200" cy="457200"/>
          </a:xfrm>
          <a:prstGeom prst="rect">
            <a:avLst/>
          </a:prstGeom>
          <a:noFill/>
        </p:spPr>
        <p:txBody>
          <a:bodyPr wrap="square">
            <a:spAutoFit/>
          </a:bodyPr>
          <a:lstStyle/>
          <a:p>
            <a:pPr algn="l"/>
            <a:r>
              <a:rPr sz="1700" b="1">
                <a:solidFill>
                  <a:srgbClr val="002060"/>
                </a:solidFill>
                <a:latin typeface="Comfortaa"/>
              </a:rPr>
              <a:t>Resolución en Contexto Técnico</a:t>
            </a:r>
          </a:p>
        </p:txBody>
      </p:sp>
      <p:sp>
        <p:nvSpPr>
          <p:cNvPr id="25" name="TextBox 24"/>
          <p:cNvSpPr txBox="1"/>
          <p:nvPr/>
        </p:nvSpPr>
        <p:spPr>
          <a:xfrm>
            <a:off x="1005840" y="5806440"/>
            <a:ext cx="10515600" cy="411480"/>
          </a:xfrm>
          <a:prstGeom prst="rect">
            <a:avLst/>
          </a:prstGeom>
          <a:noFill/>
        </p:spPr>
        <p:txBody>
          <a:bodyPr wrap="square">
            <a:spAutoFit/>
          </a:bodyPr>
          <a:lstStyle/>
          <a:p>
            <a:pPr algn="l"/>
            <a:r>
              <a:rPr sz="1200" b="0">
                <a:solidFill>
                  <a:srgbClr val="444444"/>
                </a:solidFill>
                <a:latin typeface="Comfortaa"/>
              </a:rPr>
              <a:t>Debugging sistemático  ·  Postmortems sin culpa  ·  Gestión de incidentes</a:t>
            </a:r>
          </a:p>
        </p:txBody>
      </p:sp>
      <p:sp>
        <p:nvSpPr>
          <p:cNvPr id="26" name="Rectangle 25"/>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1</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Pensamiento Analítico</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Descomposición de problemas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Pensamiento sistémico</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Modelos mentales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Resolución de Problemas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Pensamiento Analítico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Resolución de Problemas: La Habilidad más Demandada</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93% de los empleadores valoran la resolución de problemas como la habilidad más importante (World Economic Forum 2024). No es un talento innato: es una habilidad que se entrena con frameworks, práctica y reflexión sistemática.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Pensamiento Analítico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Descomposición de Problemas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problemas complejos son manejables cuando se descomponen en partes más pequeñas. La técnica 'divide y vencerás' aplicada a problemas: identifica el problema raíz, separa los síntomas de las causas, prioriza por impacto y aborda cada parte de forma independiente.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Pensamiento Analítico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Pensamiento Sistémico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pensamiento sistémico ve los problemas como parte de un sistema interconectado: cambiar una variable afecta a otras. Los bucles de retroalimentación (positivos y negativos), los retrasos y los puntos de palanca son conceptos clave para entender sistemas complejos.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Pensamiento Analítico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Modelos Mentales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modelos mentales son marcos de pensamiento que simplifican la realidad: el principio de Pareto (80/20), la navaja de Occam (la solución más simple suele ser la correcta), el pensamiento inverso (¿qué haría que esto fallara?). Cuantos más modelos, mejor el pensamiento.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Pensamiento Analítico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Aplica la descomposición de problemas a un reto real: un sistema de producción que responde lentamente. Dibuja el árbol de causas posibles, prioriza las más probables con la matriz impacto/probabilidad y propón el plan de investigación.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2</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Frameworks de Resolución</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5 Whys y Fishbone</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Design Thinking</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MECE y árbol de problemas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Resolución de Problemas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Frameworks de Resolución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Frameworks de Resolución de Problemas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frameworks estructuran el proceso de resolución, evitando el pensamiento circular y las soluciones precipitadas. No son recetas mágicas: son guías que aseguran que se considera el problema desde múltiples ángulos antes de actuar.</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Frameworks de Resolución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Los 5 Whys: Encontrar la Causa Raíz</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método de los 5 Whys pregunta '¿por qué?' repetidamente hasta llegar a la causa raíz. Ejemplo: el servidor cayó → porque se agotó la memoria → porque había un memory leak → porque el código no liberaba conexiones → porque no había tests de carga. La causa raíz: falta de tests.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Frameworks de Resolución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Diagrama de Ishikawa (Fishbone)</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diagrama de Ishikawa organiza las causas potenciales de un problema en categorías: Personas, Procesos, Tecnología, Entorno, Materiales, Medición. Es especialmente útil para problemas con múltiples causas posibles y equipos multidisciplinares.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Frameworks de Resolución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MECE: Mutuamente Exclusivo, Colectivamente Exhaustivo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MECE garantiza que el análisis cubre todas las causas sin solapamientos. Si las categorías se solapan, el análisis es redundante. Si no cubren todo el espacio del problema, hay causas no consideradas. McKinsey usa MECE como estándar de pensamiento estructurado.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Frameworks de Resolución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Aplica los 5 Whys a un bug de producción real o simulado: documenta cada nivel de la cadena causal, identifica la causa raíz técnica y la causa raíz de proceso, y propón acciones correctivas para ambas causas.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3</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Toma de Decisiones</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Matriz de decisión</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Análisis de riesgo</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Decisiones bajo incertidumbre</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Resolución de Problemas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Toma de Decisiones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Toma de Decisiones Efectiva</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profesionales técnicos toman decenas de decisiones al día: qué tecnología usar, cómo priorizar el backlog, cómo responder a un incidente. Las decisiones sistemáticas, basadas en criterios explícitos, son más consistentes y defendibles que las intuitivas.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Toma de Decisiones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La Matriz de Decisión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matriz de decisión evalúa opciones contra criterios ponderados. Pasos: lista las opciones, define los criterios (coste, tiempo, riesgo, escalabilidad), asigna pesos a los criterios según importancia, puntúa cada opción y calcula la puntuación ponderada total.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Toma de Decisiones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Análisis de Riesgo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Cada decisión tiene riesgos. El análisis de riesgo los identifica, cuantifica (probabilidad × impacto) y prioriza. La matriz de riesgos (probabilidad vs impacto) clasifica los riesgos en: aceptar, mitigar, transferir o evitar.</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Toma de Decisiones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Decisiones bajo Incertidumbre</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Cuando la información es incompleta: define el nivel de reversibilidad (las decisiones reversibles pueden tomarse más rápido), usa el principio de suficiencia (suficiente información para decidir, no perfecta), y aplica el pensamiento bayesiano para actualizar creencias con nueva evidencia.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Toma de Decisiones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Usa una matriz de decisión para elegir la base de datos para un nuevo proyecto: evalúa PostgreSQL, MongoDB y DynamoDB contra criterios de coste, escalabilidad, complejidad de consultas, experiencia del equipo y soporte cloud. Justifica la elección final.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5852160"/>
            <a:ext cx="12188952"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88952" cy="1097280"/>
          </a:xfrm>
          <a:prstGeom prst="rect">
            <a:avLst/>
          </a:prstGeom>
          <a:noFill/>
        </p:spPr>
        <p:txBody>
          <a:bodyPr wrap="square">
            <a:spAutoFit/>
          </a:bodyPr>
          <a:lstStyle/>
          <a:p>
            <a:pPr algn="ctr"/>
            <a:r>
              <a:rPr sz="4200" b="1">
                <a:solidFill>
                  <a:srgbClr val="FFFFFF"/>
                </a:solidFill>
                <a:latin typeface="Comfortaa"/>
              </a:rPr>
              <a:t>¡Sigue aprendiendo!</a:t>
            </a:r>
          </a:p>
        </p:txBody>
      </p:sp>
      <p:sp>
        <p:nvSpPr>
          <p:cNvPr id="4" name="TextBox 3"/>
          <p:cNvSpPr txBox="1"/>
          <p:nvPr/>
        </p:nvSpPr>
        <p:spPr>
          <a:xfrm>
            <a:off x="0" y="3017520"/>
            <a:ext cx="12188952" cy="640080"/>
          </a:xfrm>
          <a:prstGeom prst="rect">
            <a:avLst/>
          </a:prstGeom>
          <a:noFill/>
        </p:spPr>
        <p:txBody>
          <a:bodyPr wrap="square">
            <a:spAutoFit/>
          </a:bodyPr>
          <a:lstStyle/>
          <a:p>
            <a:pPr algn="ctr"/>
            <a:r>
              <a:rPr sz="2200" b="0">
                <a:solidFill>
                  <a:srgbClr val="07A74F"/>
                </a:solidFill>
                <a:latin typeface="Comfortaa"/>
              </a:rPr>
              <a:t>Resolución de Problemas</a:t>
            </a:r>
          </a:p>
        </p:txBody>
      </p:sp>
      <p:sp>
        <p:nvSpPr>
          <p:cNvPr id="5" name="TextBox 4"/>
          <p:cNvSpPr txBox="1"/>
          <p:nvPr/>
        </p:nvSpPr>
        <p:spPr>
          <a:xfrm>
            <a:off x="0" y="5897880"/>
            <a:ext cx="12188952" cy="548640"/>
          </a:xfrm>
          <a:prstGeom prst="rect">
            <a:avLst/>
          </a:prstGeom>
          <a:noFill/>
        </p:spPr>
        <p:txBody>
          <a:bodyPr wrap="square">
            <a:spAutoFit/>
          </a:bodyPr>
          <a:lstStyle/>
          <a:p>
            <a:pPr algn="ctr"/>
            <a:r>
              <a:rPr sz="1800" b="1">
                <a:solidFill>
                  <a:srgbClr val="FFFFFF"/>
                </a:solidFill>
                <a:latin typeface="Comfortaa"/>
              </a:rPr>
              <a:t>dataquantum Learning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