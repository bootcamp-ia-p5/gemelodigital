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12188952" cy="6400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7315200" cy="457200"/>
          </a:xfrm>
          <a:prstGeom prst="rect">
            <a:avLst/>
          </a:prstGeom>
          <a:noFill/>
        </p:spPr>
        <p:txBody>
          <a:bodyPr wrap="square">
            <a:spAutoFit/>
          </a:bodyPr>
          <a:lstStyle/>
          <a:p>
            <a:pPr algn="l"/>
            <a:r>
              <a:rPr sz="1300" b="0">
                <a:solidFill>
                  <a:srgbClr val="07A74F"/>
                </a:solidFill>
                <a:latin typeface="Comfortaa"/>
              </a:rPr>
              <a:t>HABILIDADES TRANSVERSALES</a:t>
            </a:r>
          </a:p>
        </p:txBody>
      </p:sp>
      <p:sp>
        <p:nvSpPr>
          <p:cNvPr id="5" name="TextBox 4"/>
          <p:cNvSpPr txBox="1"/>
          <p:nvPr/>
        </p:nvSpPr>
        <p:spPr>
          <a:xfrm>
            <a:off x="548640" y="1645920"/>
            <a:ext cx="10515600" cy="1828800"/>
          </a:xfrm>
          <a:prstGeom prst="rect">
            <a:avLst/>
          </a:prstGeom>
          <a:noFill/>
        </p:spPr>
        <p:txBody>
          <a:bodyPr wrap="square">
            <a:spAutoFit/>
          </a:bodyPr>
          <a:lstStyle/>
          <a:p>
            <a:pPr algn="l"/>
            <a:r>
              <a:rPr sz="4600" b="1">
                <a:solidFill>
                  <a:srgbClr val="FFFFFF"/>
                </a:solidFill>
                <a:latin typeface="Comfortaa"/>
              </a:rPr>
              <a:t>Metodologías Ágiles</a:t>
            </a:r>
          </a:p>
        </p:txBody>
      </p:sp>
      <p:sp>
        <p:nvSpPr>
          <p:cNvPr id="6" name="TextBox 5"/>
          <p:cNvSpPr txBox="1"/>
          <p:nvPr/>
        </p:nvSpPr>
        <p:spPr>
          <a:xfrm>
            <a:off x="548640" y="3566160"/>
            <a:ext cx="8686800" cy="914400"/>
          </a:xfrm>
          <a:prstGeom prst="rect">
            <a:avLst/>
          </a:prstGeom>
          <a:noFill/>
        </p:spPr>
        <p:txBody>
          <a:bodyPr wrap="square">
            <a:spAutoFit/>
          </a:bodyPr>
          <a:lstStyle/>
          <a:p>
            <a:pPr algn="l"/>
            <a:r>
              <a:rPr sz="1800" b="0">
                <a:solidFill>
                  <a:srgbClr val="CCDDFF"/>
                </a:solidFill>
                <a:latin typeface="Comfortaa"/>
              </a:rPr>
              <a:t>Trabajo iterativo e incremental utilizando frameworks como Scrum o Kanban.</a:t>
            </a:r>
          </a:p>
        </p:txBody>
      </p:sp>
      <p:sp>
        <p:nvSpPr>
          <p:cNvPr id="7" name="TextBox 6"/>
          <p:cNvSpPr txBox="1"/>
          <p:nvPr/>
        </p:nvSpPr>
        <p:spPr>
          <a:xfrm>
            <a:off x="548640" y="4572000"/>
            <a:ext cx="4572000" cy="457200"/>
          </a:xfrm>
          <a:prstGeom prst="rect">
            <a:avLst/>
          </a:prstGeom>
          <a:noFill/>
        </p:spPr>
        <p:txBody>
          <a:bodyPr wrap="square">
            <a:spAutoFit/>
          </a:bodyPr>
          <a:lstStyle/>
          <a:p>
            <a:pPr algn="l"/>
            <a:r>
              <a:rPr sz="1500" b="0">
                <a:solidFill>
                  <a:srgbClr val="FF8C00"/>
                </a:solidFill>
                <a:latin typeface="Comfortaa"/>
              </a:rPr>
              <a:t>Nivel: Todos los niveles</a:t>
            </a:r>
          </a:p>
        </p:txBody>
      </p:sp>
      <p:sp>
        <p:nvSpPr>
          <p:cNvPr id="8" name="TextBox 7"/>
          <p:cNvSpPr txBox="1"/>
          <p:nvPr/>
        </p:nvSpPr>
        <p:spPr>
          <a:xfrm>
            <a:off x="8686800" y="6263640"/>
            <a:ext cx="3200400" cy="457200"/>
          </a:xfrm>
          <a:prstGeom prst="rect">
            <a:avLst/>
          </a:prstGeom>
          <a:noFill/>
        </p:spPr>
        <p:txBody>
          <a:bodyPr wrap="square">
            <a:spAutoFit/>
          </a:bodyPr>
          <a:lstStyle/>
          <a:p>
            <a:pPr algn="r"/>
            <a:r>
              <a:rPr sz="1600" b="1">
                <a:solidFill>
                  <a:srgbClr val="FFFFFF"/>
                </a:solidFill>
                <a:latin typeface="Comfortaa"/>
              </a:rPr>
              <a:t>dataquantum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9144000" cy="822960"/>
          </a:xfrm>
          <a:prstGeom prst="rect">
            <a:avLst/>
          </a:prstGeom>
          <a:noFill/>
        </p:spPr>
        <p:txBody>
          <a:bodyPr wrap="square">
            <a:spAutoFit/>
          </a:bodyPr>
          <a:lstStyle/>
          <a:p>
            <a:pPr algn="l"/>
            <a:r>
              <a:rPr sz="3000" b="1">
                <a:solidFill>
                  <a:srgbClr val="FFFFFF"/>
                </a:solidFill>
                <a:latin typeface="Comfortaa"/>
              </a:rPr>
              <a:t>Índice de Módulos</a:t>
            </a:r>
          </a:p>
        </p:txBody>
      </p:sp>
      <p:sp>
        <p:nvSpPr>
          <p:cNvPr id="4" name="TextBox 3"/>
          <p:cNvSpPr txBox="1"/>
          <p:nvPr/>
        </p:nvSpPr>
        <p:spPr>
          <a:xfrm>
            <a:off x="457200" y="868680"/>
            <a:ext cx="9144000" cy="411480"/>
          </a:xfrm>
          <a:prstGeom prst="rect">
            <a:avLst/>
          </a:prstGeom>
          <a:noFill/>
        </p:spPr>
        <p:txBody>
          <a:bodyPr wrap="square">
            <a:spAutoFit/>
          </a:bodyPr>
          <a:lstStyle/>
          <a:p>
            <a:pPr algn="l"/>
            <a:r>
              <a:rPr sz="1400" b="0">
                <a:solidFill>
                  <a:srgbClr val="07A74F"/>
                </a:solidFill>
                <a:latin typeface="Comfortaa"/>
              </a:rPr>
              <a:t>Metodologías Ágiles</a:t>
            </a:r>
          </a:p>
        </p:txBody>
      </p:sp>
      <p:sp>
        <p:nvSpPr>
          <p:cNvPr id="5" name="Rectangle 4"/>
          <p:cNvSpPr/>
          <p:nvPr/>
        </p:nvSpPr>
        <p:spPr>
          <a:xfrm>
            <a:off x="0" y="1280160"/>
            <a:ext cx="12188952" cy="54864"/>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502920" cy="502920"/>
          </a:xfrm>
          <a:prstGeom prst="rect">
            <a:avLst/>
          </a:prstGeom>
          <a:noFill/>
        </p:spPr>
        <p:txBody>
          <a:bodyPr wrap="square">
            <a:spAutoFit/>
          </a:bodyPr>
          <a:lstStyle/>
          <a:p>
            <a:pPr algn="ctr"/>
            <a:r>
              <a:rPr sz="1800" b="1">
                <a:solidFill>
                  <a:srgbClr val="FFFFFF"/>
                </a:solidFill>
                <a:latin typeface="Comfortaa"/>
              </a:rPr>
              <a:t>1</a:t>
            </a:r>
          </a:p>
        </p:txBody>
      </p:sp>
      <p:sp>
        <p:nvSpPr>
          <p:cNvPr id="8" name="TextBox 7"/>
          <p:cNvSpPr txBox="1"/>
          <p:nvPr/>
        </p:nvSpPr>
        <p:spPr>
          <a:xfrm>
            <a:off x="1005840" y="1536192"/>
            <a:ext cx="5029200" cy="457200"/>
          </a:xfrm>
          <a:prstGeom prst="rect">
            <a:avLst/>
          </a:prstGeom>
          <a:noFill/>
        </p:spPr>
        <p:txBody>
          <a:bodyPr wrap="square">
            <a:spAutoFit/>
          </a:bodyPr>
          <a:lstStyle/>
          <a:p>
            <a:pPr algn="l"/>
            <a:r>
              <a:rPr sz="1700" b="1">
                <a:solidFill>
                  <a:srgbClr val="002060"/>
                </a:solidFill>
                <a:latin typeface="Comfortaa"/>
              </a:rPr>
              <a:t>El Manifiesto Ágil</a:t>
            </a:r>
          </a:p>
        </p:txBody>
      </p:sp>
      <p:sp>
        <p:nvSpPr>
          <p:cNvPr id="9" name="TextBox 8"/>
          <p:cNvSpPr txBox="1"/>
          <p:nvPr/>
        </p:nvSpPr>
        <p:spPr>
          <a:xfrm>
            <a:off x="1005840" y="1965960"/>
            <a:ext cx="10515600" cy="411480"/>
          </a:xfrm>
          <a:prstGeom prst="rect">
            <a:avLst/>
          </a:prstGeom>
          <a:noFill/>
        </p:spPr>
        <p:txBody>
          <a:bodyPr wrap="square">
            <a:spAutoFit/>
          </a:bodyPr>
          <a:lstStyle/>
          <a:p>
            <a:pPr algn="l"/>
            <a:r>
              <a:rPr sz="1200" b="0">
                <a:solidFill>
                  <a:srgbClr val="444444"/>
                </a:solidFill>
                <a:latin typeface="Comfortaa"/>
              </a:rPr>
              <a:t>Valores y principios  ·  Ágil vs cascada  ·  Mentalidad ágil</a:t>
            </a:r>
          </a:p>
        </p:txBody>
      </p:sp>
      <p:sp>
        <p:nvSpPr>
          <p:cNvPr id="10" name="Rectangle 9"/>
          <p:cNvSpPr/>
          <p:nvPr/>
        </p:nvSpPr>
        <p:spPr>
          <a:xfrm>
            <a:off x="365760" y="246888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468880"/>
            <a:ext cx="502920" cy="502920"/>
          </a:xfrm>
          <a:prstGeom prst="rect">
            <a:avLst/>
          </a:prstGeom>
          <a:noFill/>
        </p:spPr>
        <p:txBody>
          <a:bodyPr wrap="square">
            <a:spAutoFit/>
          </a:bodyPr>
          <a:lstStyle/>
          <a:p>
            <a:pPr algn="ctr"/>
            <a:r>
              <a:rPr sz="1800" b="1">
                <a:solidFill>
                  <a:srgbClr val="FFFFFF"/>
                </a:solidFill>
                <a:latin typeface="Comfortaa"/>
              </a:rPr>
              <a:t>2</a:t>
            </a:r>
          </a:p>
        </p:txBody>
      </p:sp>
      <p:sp>
        <p:nvSpPr>
          <p:cNvPr id="12" name="TextBox 11"/>
          <p:cNvSpPr txBox="1"/>
          <p:nvPr/>
        </p:nvSpPr>
        <p:spPr>
          <a:xfrm>
            <a:off x="1005840" y="2496312"/>
            <a:ext cx="5029200" cy="457200"/>
          </a:xfrm>
          <a:prstGeom prst="rect">
            <a:avLst/>
          </a:prstGeom>
          <a:noFill/>
        </p:spPr>
        <p:txBody>
          <a:bodyPr wrap="square">
            <a:spAutoFit/>
          </a:bodyPr>
          <a:lstStyle/>
          <a:p>
            <a:pPr algn="l"/>
            <a:r>
              <a:rPr sz="1700" b="1">
                <a:solidFill>
                  <a:srgbClr val="002060"/>
                </a:solidFill>
                <a:latin typeface="Comfortaa"/>
              </a:rPr>
              <a:t>Scrum</a:t>
            </a:r>
          </a:p>
        </p:txBody>
      </p:sp>
      <p:sp>
        <p:nvSpPr>
          <p:cNvPr id="13" name="TextBox 12"/>
          <p:cNvSpPr txBox="1"/>
          <p:nvPr/>
        </p:nvSpPr>
        <p:spPr>
          <a:xfrm>
            <a:off x="1005840" y="2926080"/>
            <a:ext cx="10515600" cy="411480"/>
          </a:xfrm>
          <a:prstGeom prst="rect">
            <a:avLst/>
          </a:prstGeom>
          <a:noFill/>
        </p:spPr>
        <p:txBody>
          <a:bodyPr wrap="square">
            <a:spAutoFit/>
          </a:bodyPr>
          <a:lstStyle/>
          <a:p>
            <a:pPr algn="l"/>
            <a:r>
              <a:rPr sz="1200" b="0">
                <a:solidFill>
                  <a:srgbClr val="444444"/>
                </a:solidFill>
                <a:latin typeface="Comfortaa"/>
              </a:rPr>
              <a:t>Roles: PO, SM, Dev Team  ·  Ceremonias y artefactos  ·  Sprints y velocity</a:t>
            </a:r>
          </a:p>
        </p:txBody>
      </p:sp>
      <p:sp>
        <p:nvSpPr>
          <p:cNvPr id="14" name="Rectangle 13"/>
          <p:cNvSpPr/>
          <p:nvPr/>
        </p:nvSpPr>
        <p:spPr>
          <a:xfrm>
            <a:off x="365760" y="342900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429000"/>
            <a:ext cx="502920" cy="502920"/>
          </a:xfrm>
          <a:prstGeom prst="rect">
            <a:avLst/>
          </a:prstGeom>
          <a:noFill/>
        </p:spPr>
        <p:txBody>
          <a:bodyPr wrap="square">
            <a:spAutoFit/>
          </a:bodyPr>
          <a:lstStyle/>
          <a:p>
            <a:pPr algn="ctr"/>
            <a:r>
              <a:rPr sz="1800" b="1">
                <a:solidFill>
                  <a:srgbClr val="FFFFFF"/>
                </a:solidFill>
                <a:latin typeface="Comfortaa"/>
              </a:rPr>
              <a:t>3</a:t>
            </a:r>
          </a:p>
        </p:txBody>
      </p:sp>
      <p:sp>
        <p:nvSpPr>
          <p:cNvPr id="16" name="TextBox 15"/>
          <p:cNvSpPr txBox="1"/>
          <p:nvPr/>
        </p:nvSpPr>
        <p:spPr>
          <a:xfrm>
            <a:off x="1005840" y="3456432"/>
            <a:ext cx="5029200" cy="457200"/>
          </a:xfrm>
          <a:prstGeom prst="rect">
            <a:avLst/>
          </a:prstGeom>
          <a:noFill/>
        </p:spPr>
        <p:txBody>
          <a:bodyPr wrap="square">
            <a:spAutoFit/>
          </a:bodyPr>
          <a:lstStyle/>
          <a:p>
            <a:pPr algn="l"/>
            <a:r>
              <a:rPr sz="1700" b="1">
                <a:solidFill>
                  <a:srgbClr val="002060"/>
                </a:solidFill>
                <a:latin typeface="Comfortaa"/>
              </a:rPr>
              <a:t>Kanban</a:t>
            </a:r>
          </a:p>
        </p:txBody>
      </p:sp>
      <p:sp>
        <p:nvSpPr>
          <p:cNvPr id="17" name="TextBox 16"/>
          <p:cNvSpPr txBox="1"/>
          <p:nvPr/>
        </p:nvSpPr>
        <p:spPr>
          <a:xfrm>
            <a:off x="1005840" y="3886200"/>
            <a:ext cx="10515600" cy="411480"/>
          </a:xfrm>
          <a:prstGeom prst="rect">
            <a:avLst/>
          </a:prstGeom>
          <a:noFill/>
        </p:spPr>
        <p:txBody>
          <a:bodyPr wrap="square">
            <a:spAutoFit/>
          </a:bodyPr>
          <a:lstStyle/>
          <a:p>
            <a:pPr algn="l"/>
            <a:r>
              <a:rPr sz="1200" b="0">
                <a:solidFill>
                  <a:srgbClr val="444444"/>
                </a:solidFill>
                <a:latin typeface="Comfortaa"/>
              </a:rPr>
              <a:t>Tablero Kanban  ·  Límites WIP  ·  Métricas de flujo</a:t>
            </a:r>
          </a:p>
        </p:txBody>
      </p:sp>
      <p:sp>
        <p:nvSpPr>
          <p:cNvPr id="18" name="Rectangle 17"/>
          <p:cNvSpPr/>
          <p:nvPr/>
        </p:nvSpPr>
        <p:spPr>
          <a:xfrm>
            <a:off x="365760" y="438912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389120"/>
            <a:ext cx="502920" cy="502920"/>
          </a:xfrm>
          <a:prstGeom prst="rect">
            <a:avLst/>
          </a:prstGeom>
          <a:noFill/>
        </p:spPr>
        <p:txBody>
          <a:bodyPr wrap="square">
            <a:spAutoFit/>
          </a:bodyPr>
          <a:lstStyle/>
          <a:p>
            <a:pPr algn="ctr"/>
            <a:r>
              <a:rPr sz="1800" b="1">
                <a:solidFill>
                  <a:srgbClr val="FFFFFF"/>
                </a:solidFill>
                <a:latin typeface="Comfortaa"/>
              </a:rPr>
              <a:t>4</a:t>
            </a:r>
          </a:p>
        </p:txBody>
      </p:sp>
      <p:sp>
        <p:nvSpPr>
          <p:cNvPr id="20" name="TextBox 19"/>
          <p:cNvSpPr txBox="1"/>
          <p:nvPr/>
        </p:nvSpPr>
        <p:spPr>
          <a:xfrm>
            <a:off x="1005840" y="4416552"/>
            <a:ext cx="5029200" cy="457200"/>
          </a:xfrm>
          <a:prstGeom prst="rect">
            <a:avLst/>
          </a:prstGeom>
          <a:noFill/>
        </p:spPr>
        <p:txBody>
          <a:bodyPr wrap="square">
            <a:spAutoFit/>
          </a:bodyPr>
          <a:lstStyle/>
          <a:p>
            <a:pPr algn="l"/>
            <a:r>
              <a:rPr sz="1700" b="1">
                <a:solidFill>
                  <a:srgbClr val="002060"/>
                </a:solidFill>
                <a:latin typeface="Comfortaa"/>
              </a:rPr>
              <a:t>Escalado Ágil</a:t>
            </a:r>
          </a:p>
        </p:txBody>
      </p:sp>
      <p:sp>
        <p:nvSpPr>
          <p:cNvPr id="21" name="TextBox 20"/>
          <p:cNvSpPr txBox="1"/>
          <p:nvPr/>
        </p:nvSpPr>
        <p:spPr>
          <a:xfrm>
            <a:off x="1005840" y="4846320"/>
            <a:ext cx="10515600" cy="411480"/>
          </a:xfrm>
          <a:prstGeom prst="rect">
            <a:avLst/>
          </a:prstGeom>
          <a:noFill/>
        </p:spPr>
        <p:txBody>
          <a:bodyPr wrap="square">
            <a:spAutoFit/>
          </a:bodyPr>
          <a:lstStyle/>
          <a:p>
            <a:pPr algn="l"/>
            <a:r>
              <a:rPr sz="1200" b="0">
                <a:solidFill>
                  <a:srgbClr val="444444"/>
                </a:solidFill>
                <a:latin typeface="Comfortaa"/>
              </a:rPr>
              <a:t>SAFe y LeSS  ·  OKRs y alineación  ·  Equipos de equipos</a:t>
            </a:r>
          </a:p>
        </p:txBody>
      </p:sp>
      <p:sp>
        <p:nvSpPr>
          <p:cNvPr id="22" name="Rectangle 21"/>
          <p:cNvSpPr/>
          <p:nvPr/>
        </p:nvSpPr>
        <p:spPr>
          <a:xfrm>
            <a:off x="365760" y="534924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349240"/>
            <a:ext cx="502920" cy="502920"/>
          </a:xfrm>
          <a:prstGeom prst="rect">
            <a:avLst/>
          </a:prstGeom>
          <a:noFill/>
        </p:spPr>
        <p:txBody>
          <a:bodyPr wrap="square">
            <a:spAutoFit/>
          </a:bodyPr>
          <a:lstStyle/>
          <a:p>
            <a:pPr algn="ctr"/>
            <a:r>
              <a:rPr sz="1800" b="1">
                <a:solidFill>
                  <a:srgbClr val="FFFFFF"/>
                </a:solidFill>
                <a:latin typeface="Comfortaa"/>
              </a:rPr>
              <a:t>5</a:t>
            </a:r>
          </a:p>
        </p:txBody>
      </p:sp>
      <p:sp>
        <p:nvSpPr>
          <p:cNvPr id="24" name="TextBox 23"/>
          <p:cNvSpPr txBox="1"/>
          <p:nvPr/>
        </p:nvSpPr>
        <p:spPr>
          <a:xfrm>
            <a:off x="1005840" y="5376672"/>
            <a:ext cx="5029200" cy="457200"/>
          </a:xfrm>
          <a:prstGeom prst="rect">
            <a:avLst/>
          </a:prstGeom>
          <a:noFill/>
        </p:spPr>
        <p:txBody>
          <a:bodyPr wrap="square">
            <a:spAutoFit/>
          </a:bodyPr>
          <a:lstStyle/>
          <a:p>
            <a:pPr algn="l"/>
            <a:r>
              <a:rPr sz="1700" b="1">
                <a:solidFill>
                  <a:srgbClr val="002060"/>
                </a:solidFill>
                <a:latin typeface="Comfortaa"/>
              </a:rPr>
              <a:t>Mejora Continua</a:t>
            </a:r>
          </a:p>
        </p:txBody>
      </p:sp>
      <p:sp>
        <p:nvSpPr>
          <p:cNvPr id="25" name="TextBox 24"/>
          <p:cNvSpPr txBox="1"/>
          <p:nvPr/>
        </p:nvSpPr>
        <p:spPr>
          <a:xfrm>
            <a:off x="1005840" y="5806440"/>
            <a:ext cx="10515600" cy="411480"/>
          </a:xfrm>
          <a:prstGeom prst="rect">
            <a:avLst/>
          </a:prstGeom>
          <a:noFill/>
        </p:spPr>
        <p:txBody>
          <a:bodyPr wrap="square">
            <a:spAutoFit/>
          </a:bodyPr>
          <a:lstStyle/>
          <a:p>
            <a:pPr algn="l"/>
            <a:r>
              <a:rPr sz="1200" b="0">
                <a:solidFill>
                  <a:srgbClr val="444444"/>
                </a:solidFill>
                <a:latin typeface="Comfortaa"/>
              </a:rPr>
              <a:t>Retrospectivas efectivas  ·  Kaizen y lean  ·  Métricas de madurez ágil</a:t>
            </a:r>
          </a:p>
        </p:txBody>
      </p:sp>
      <p:sp>
        <p:nvSpPr>
          <p:cNvPr id="26" name="Rectangle 25"/>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1</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El Manifiesto Ágil</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Valores y principios</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Ágil vs cascada</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Mentalidad ágil</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Metodologías Ágiles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El Manifiesto Ágil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El Manifiesto Ágil: Una Revolución en el Desarrollo de Software</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En 2001, 17 desarrolladores firmaron el Manifiesto Ágil, cambiando para siempre la forma de desarrollar software. Hoy, el 71% de las organizaciones usan metodologías ágiles (PMI 2024). No es una moda: es la respuesta al fracaso del modelo en cascada.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El Manifiesto Ágil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Los 4 Valores del Manifiesto Ágil</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Individuos e interacciones sobre procesos y herramientas. Software funcionando sobre documentación exhaustiva. Colaboración con el cliente sobre negociación contractual. Respuesta al cambio sobre seguir un plan. 'Aunque valoramos los elementos de la derecha, valoramos más los de la izquierda.'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El Manifiesto Ágil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Los 12 Principios Ágiles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principios guían la aplicación de los valores: entrega temprana y continua de software valioso, bienvenida al cambio incluso tarde en el desarrollo, entrega frecuente (semanas, no meses), colaboración diaria entre negocio y desarrollo, y mejora continua del equipo.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El Manifiesto Ágil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Ágil vs Cascada: Los Trade-offs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Cascada: planificación completa al inicio, entrega al final, cambios costosos. Ideal para proyectos con requisitos fijos (construcción, hardware). Ágil: planificación iterativa, entregas frecuentes, cambios bienvenidos. Ideal para software donde los requisitos evolucionan.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El Manifiesto Ágil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Analiza un proyecto real o ficticio que fracasó con metodología en cascada: identifica qué principios ágiles habrían evitado el fracaso, cómo se habría estructurado el proyecto con Scrum y qué valor se habría entregado en las primeras 2 semanas.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2</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Scrum</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Roles: PO, SM, Dev Team</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Ceremonias y artefactos</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Sprints y velocity</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Metodologías Ágiles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Scrum</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Scrum: El Framework Ágil más Adoptado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Scrum es usado por el 66% de los equipos ágiles (State of Agile Report 2024). No es un proceso rígido: es un framework ligero que define roles, eventos y artefactos mínimos para gestionar trabajo complejo de forma iterativa e incremental.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Scrum</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Los 3 Roles de Scrum</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Product Owner: maximiza el valor del producto, gestiona el backlog y prioriza. Scrum Master: facilita el proceso, elimina impedimentos y protege al equipo. Development Team: autoorganizado, multifuncional, entrega el incremento de producto en cada sprint.</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Scrum</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Los 5 Eventos de Scrum</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Sprint (1-4 semanas): el corazón de Scrum. Sprint Planning: qué se hará y cómo. Daily Scrum (15 min): sincronización diaria. Sprint Review: demostración al stakeholder. Sprint Retrospective: mejora del proceso. Cada evento tiene un propósito y un timebox.</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Scrum</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Los 3 Artefactos de Scrum</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Product Backlog: lista priorizada de todo el trabajo pendiente. Sprint Backlog: trabajo seleccionado para el sprint actual. Incremento: la suma de todo el trabajo completado, siempre en estado potencialmente entregable. La transparencia de los artefactos es fundamental.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Scrum</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Simula un sprint completo de 2 semanas para una app de gestión de tareas: escribe 10 historias de usuario con criterios de aceptación, realiza el Sprint Planning seleccionando las de mayor valor, crea el tablero Scrum y facilita una retrospectiva al final.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3</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Kanban</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Tablero Kanban</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Límites WIP</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Métricas de flujo</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Metodologías Ágiles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Kanban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Kanban: Flujo Continuo y Mejora Visual</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Kanban es un método de gestión del trabajo que visualiza el flujo, limita el trabajo en progreso (WIP) y maximiza la eficiencia. A diferencia de Scrum, no tiene roles ni sprints fijos: es un sistema de mejora continua aplicable a cualquier proceso existente.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Kanban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El Tablero Kanban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tablero Kanban visualiza el flujo de trabajo con columnas (Por hacer, En progreso, En revisión, Hecho). Cada tarjeta representa una tarea. La visualización revela cuellos de botella, tareas bloqueadas y distribución del trabajo de forma inmediata.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Kanban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Límites WIP: La Clave de Kanban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WIP (Work In Progress) es el número máximo de tareas simultáneas por columna. Limitar el WIP fuerza a terminar antes de empezar, reduce el multitasking (que reduce la productividad un 40%), revela cuellos de botella y mejora el tiempo de ciclo.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Kanban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Métricas de Flujo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Lead Time: tiempo desde que se solicita hasta que se entrega. Cycle Time: tiempo desde que se empieza hasta que se termina. Throughput: número de tareas completadas por unidad de tiempo. El Cumulative Flow Diagram visualiza el flujo y detecta problemas sistémicos.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Kanban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Implementa un tablero Kanban para el proceso de desarrollo de tu equipo: define las columnas del flujo real, establece límites WIP basados en el tamaño del equipo, mide el cycle time durante 2 semanas e identifica el principal cuello de botella.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5852160"/>
            <a:ext cx="12188952" cy="10058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12188952" cy="1097280"/>
          </a:xfrm>
          <a:prstGeom prst="rect">
            <a:avLst/>
          </a:prstGeom>
          <a:noFill/>
        </p:spPr>
        <p:txBody>
          <a:bodyPr wrap="square">
            <a:spAutoFit/>
          </a:bodyPr>
          <a:lstStyle/>
          <a:p>
            <a:pPr algn="ctr"/>
            <a:r>
              <a:rPr sz="4200" b="1">
                <a:solidFill>
                  <a:srgbClr val="FFFFFF"/>
                </a:solidFill>
                <a:latin typeface="Comfortaa"/>
              </a:rPr>
              <a:t>¡Sigue aprendiendo!</a:t>
            </a:r>
          </a:p>
        </p:txBody>
      </p:sp>
      <p:sp>
        <p:nvSpPr>
          <p:cNvPr id="4" name="TextBox 3"/>
          <p:cNvSpPr txBox="1"/>
          <p:nvPr/>
        </p:nvSpPr>
        <p:spPr>
          <a:xfrm>
            <a:off x="0" y="3017520"/>
            <a:ext cx="12188952" cy="640080"/>
          </a:xfrm>
          <a:prstGeom prst="rect">
            <a:avLst/>
          </a:prstGeom>
          <a:noFill/>
        </p:spPr>
        <p:txBody>
          <a:bodyPr wrap="square">
            <a:spAutoFit/>
          </a:bodyPr>
          <a:lstStyle/>
          <a:p>
            <a:pPr algn="ctr"/>
            <a:r>
              <a:rPr sz="2200" b="0">
                <a:solidFill>
                  <a:srgbClr val="07A74F"/>
                </a:solidFill>
                <a:latin typeface="Comfortaa"/>
              </a:rPr>
              <a:t>Metodologías Ágiles</a:t>
            </a:r>
          </a:p>
        </p:txBody>
      </p:sp>
      <p:sp>
        <p:nvSpPr>
          <p:cNvPr id="5" name="TextBox 4"/>
          <p:cNvSpPr txBox="1"/>
          <p:nvPr/>
        </p:nvSpPr>
        <p:spPr>
          <a:xfrm>
            <a:off x="0" y="5897880"/>
            <a:ext cx="12188952" cy="548640"/>
          </a:xfrm>
          <a:prstGeom prst="rect">
            <a:avLst/>
          </a:prstGeom>
          <a:noFill/>
        </p:spPr>
        <p:txBody>
          <a:bodyPr wrap="square">
            <a:spAutoFit/>
          </a:bodyPr>
          <a:lstStyle/>
          <a:p>
            <a:pPr algn="ctr"/>
            <a:r>
              <a:rPr sz="1800" b="1">
                <a:solidFill>
                  <a:srgbClr val="FFFFFF"/>
                </a:solidFill>
                <a:latin typeface="Comfortaa"/>
              </a:rPr>
              <a:t>dataquantum Learning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