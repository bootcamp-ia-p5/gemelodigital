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217920"/>
            <a:ext cx="12188952" cy="64008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0"/>
            <a:ext cx="7315200" cy="457200"/>
          </a:xfrm>
          <a:prstGeom prst="rect">
            <a:avLst/>
          </a:prstGeom>
          <a:noFill/>
        </p:spPr>
        <p:txBody>
          <a:bodyPr wrap="square">
            <a:spAutoFit/>
          </a:bodyPr>
          <a:lstStyle/>
          <a:p>
            <a:pPr algn="l"/>
            <a:r>
              <a:rPr sz="1300" b="0">
                <a:solidFill>
                  <a:srgbClr val="07A74F"/>
                </a:solidFill>
                <a:latin typeface="Comfortaa"/>
              </a:rPr>
              <a:t>DATOS</a:t>
            </a:r>
          </a:p>
        </p:txBody>
      </p:sp>
      <p:sp>
        <p:nvSpPr>
          <p:cNvPr id="5" name="TextBox 4"/>
          <p:cNvSpPr txBox="1"/>
          <p:nvPr/>
        </p:nvSpPr>
        <p:spPr>
          <a:xfrm>
            <a:off x="548640" y="1645920"/>
            <a:ext cx="10515600" cy="1828800"/>
          </a:xfrm>
          <a:prstGeom prst="rect">
            <a:avLst/>
          </a:prstGeom>
          <a:noFill/>
        </p:spPr>
        <p:txBody>
          <a:bodyPr wrap="square">
            <a:spAutoFit/>
          </a:bodyPr>
          <a:lstStyle/>
          <a:p>
            <a:pPr algn="l"/>
            <a:r>
              <a:rPr sz="4600" b="1">
                <a:solidFill>
                  <a:srgbClr val="FFFFFF"/>
                </a:solidFill>
                <a:latin typeface="Comfortaa"/>
              </a:rPr>
              <a:t>Ingeniería de Datos</a:t>
            </a:r>
          </a:p>
        </p:txBody>
      </p:sp>
      <p:sp>
        <p:nvSpPr>
          <p:cNvPr id="6" name="TextBox 5"/>
          <p:cNvSpPr txBox="1"/>
          <p:nvPr/>
        </p:nvSpPr>
        <p:spPr>
          <a:xfrm>
            <a:off x="548640" y="3566160"/>
            <a:ext cx="8686800" cy="914400"/>
          </a:xfrm>
          <a:prstGeom prst="rect">
            <a:avLst/>
          </a:prstGeom>
          <a:noFill/>
        </p:spPr>
        <p:txBody>
          <a:bodyPr wrap="square">
            <a:spAutoFit/>
          </a:bodyPr>
          <a:lstStyle/>
          <a:p>
            <a:pPr algn="l"/>
            <a:r>
              <a:rPr sz="1800" b="0">
                <a:solidFill>
                  <a:srgbClr val="CCDDFF"/>
                </a:solidFill>
                <a:latin typeface="Comfortaa"/>
              </a:rPr>
              <a:t>Construcción y mantenimiento de pipelines de datos y arquitecturas ETL/ELT.</a:t>
            </a:r>
          </a:p>
        </p:txBody>
      </p:sp>
      <p:sp>
        <p:nvSpPr>
          <p:cNvPr id="7" name="TextBox 6"/>
          <p:cNvSpPr txBox="1"/>
          <p:nvPr/>
        </p:nvSpPr>
        <p:spPr>
          <a:xfrm>
            <a:off x="548640" y="4572000"/>
            <a:ext cx="4572000" cy="457200"/>
          </a:xfrm>
          <a:prstGeom prst="rect">
            <a:avLst/>
          </a:prstGeom>
          <a:noFill/>
        </p:spPr>
        <p:txBody>
          <a:bodyPr wrap="square">
            <a:spAutoFit/>
          </a:bodyPr>
          <a:lstStyle/>
          <a:p>
            <a:pPr algn="l"/>
            <a:r>
              <a:rPr sz="1500" b="0">
                <a:solidFill>
                  <a:srgbClr val="FF8C00"/>
                </a:solidFill>
                <a:latin typeface="Comfortaa"/>
              </a:rPr>
              <a:t>Nivel: Avanzado</a:t>
            </a:r>
          </a:p>
        </p:txBody>
      </p:sp>
      <p:sp>
        <p:nvSpPr>
          <p:cNvPr id="8" name="TextBox 7"/>
          <p:cNvSpPr txBox="1"/>
          <p:nvPr/>
        </p:nvSpPr>
        <p:spPr>
          <a:xfrm>
            <a:off x="8686800" y="6263640"/>
            <a:ext cx="3200400" cy="457200"/>
          </a:xfrm>
          <a:prstGeom prst="rect">
            <a:avLst/>
          </a:prstGeom>
          <a:noFill/>
        </p:spPr>
        <p:txBody>
          <a:bodyPr wrap="square">
            <a:spAutoFit/>
          </a:bodyPr>
          <a:lstStyle/>
          <a:p>
            <a:pPr algn="r"/>
            <a:r>
              <a:rPr sz="1600" b="1">
                <a:solidFill>
                  <a:srgbClr val="FFFFFF"/>
                </a:solidFill>
                <a:latin typeface="Comfortaa"/>
              </a:rPr>
              <a:t>dataquantum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28016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9144000" cy="822960"/>
          </a:xfrm>
          <a:prstGeom prst="rect">
            <a:avLst/>
          </a:prstGeom>
          <a:noFill/>
        </p:spPr>
        <p:txBody>
          <a:bodyPr wrap="square">
            <a:spAutoFit/>
          </a:bodyPr>
          <a:lstStyle/>
          <a:p>
            <a:pPr algn="l"/>
            <a:r>
              <a:rPr sz="3000" b="1">
                <a:solidFill>
                  <a:srgbClr val="FFFFFF"/>
                </a:solidFill>
                <a:latin typeface="Comfortaa"/>
              </a:rPr>
              <a:t>Índice de Módulos</a:t>
            </a:r>
          </a:p>
        </p:txBody>
      </p:sp>
      <p:sp>
        <p:nvSpPr>
          <p:cNvPr id="4" name="TextBox 3"/>
          <p:cNvSpPr txBox="1"/>
          <p:nvPr/>
        </p:nvSpPr>
        <p:spPr>
          <a:xfrm>
            <a:off x="457200" y="868680"/>
            <a:ext cx="9144000" cy="411480"/>
          </a:xfrm>
          <a:prstGeom prst="rect">
            <a:avLst/>
          </a:prstGeom>
          <a:noFill/>
        </p:spPr>
        <p:txBody>
          <a:bodyPr wrap="square">
            <a:spAutoFit/>
          </a:bodyPr>
          <a:lstStyle/>
          <a:p>
            <a:pPr algn="l"/>
            <a:r>
              <a:rPr sz="1400" b="0">
                <a:solidFill>
                  <a:srgbClr val="07A74F"/>
                </a:solidFill>
                <a:latin typeface="Comfortaa"/>
              </a:rPr>
              <a:t>Ingeniería de Datos</a:t>
            </a:r>
          </a:p>
        </p:txBody>
      </p:sp>
      <p:sp>
        <p:nvSpPr>
          <p:cNvPr id="5" name="Rectangle 4"/>
          <p:cNvSpPr/>
          <p:nvPr/>
        </p:nvSpPr>
        <p:spPr>
          <a:xfrm>
            <a:off x="0" y="1280160"/>
            <a:ext cx="12188952" cy="54864"/>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50876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1508760"/>
            <a:ext cx="502920" cy="502920"/>
          </a:xfrm>
          <a:prstGeom prst="rect">
            <a:avLst/>
          </a:prstGeom>
          <a:noFill/>
        </p:spPr>
        <p:txBody>
          <a:bodyPr wrap="square">
            <a:spAutoFit/>
          </a:bodyPr>
          <a:lstStyle/>
          <a:p>
            <a:pPr algn="ctr"/>
            <a:r>
              <a:rPr sz="1800" b="1">
                <a:solidFill>
                  <a:srgbClr val="FFFFFF"/>
                </a:solidFill>
                <a:latin typeface="Comfortaa"/>
              </a:rPr>
              <a:t>1</a:t>
            </a:r>
          </a:p>
        </p:txBody>
      </p:sp>
      <p:sp>
        <p:nvSpPr>
          <p:cNvPr id="8" name="TextBox 7"/>
          <p:cNvSpPr txBox="1"/>
          <p:nvPr/>
        </p:nvSpPr>
        <p:spPr>
          <a:xfrm>
            <a:off x="1005840" y="1536192"/>
            <a:ext cx="5029200" cy="457200"/>
          </a:xfrm>
          <a:prstGeom prst="rect">
            <a:avLst/>
          </a:prstGeom>
          <a:noFill/>
        </p:spPr>
        <p:txBody>
          <a:bodyPr wrap="square">
            <a:spAutoFit/>
          </a:bodyPr>
          <a:lstStyle/>
          <a:p>
            <a:pPr algn="l"/>
            <a:r>
              <a:rPr sz="1700" b="1">
                <a:solidFill>
                  <a:srgbClr val="002060"/>
                </a:solidFill>
                <a:latin typeface="Comfortaa"/>
              </a:rPr>
              <a:t>Fundamentos de Ingeniería de Datos</a:t>
            </a:r>
          </a:p>
        </p:txBody>
      </p:sp>
      <p:sp>
        <p:nvSpPr>
          <p:cNvPr id="9" name="TextBox 8"/>
          <p:cNvSpPr txBox="1"/>
          <p:nvPr/>
        </p:nvSpPr>
        <p:spPr>
          <a:xfrm>
            <a:off x="1005840" y="1965960"/>
            <a:ext cx="10515600" cy="411480"/>
          </a:xfrm>
          <a:prstGeom prst="rect">
            <a:avLst/>
          </a:prstGeom>
          <a:noFill/>
        </p:spPr>
        <p:txBody>
          <a:bodyPr wrap="square">
            <a:spAutoFit/>
          </a:bodyPr>
          <a:lstStyle/>
          <a:p>
            <a:pPr algn="l"/>
            <a:r>
              <a:rPr sz="1200" b="0">
                <a:solidFill>
                  <a:srgbClr val="444444"/>
                </a:solidFill>
                <a:latin typeface="Comfortaa"/>
              </a:rPr>
              <a:t>ETL vs ELT  ·  Arquitecturas de datos  ·  Calidad y linaje de datos</a:t>
            </a:r>
          </a:p>
        </p:txBody>
      </p:sp>
      <p:sp>
        <p:nvSpPr>
          <p:cNvPr id="10" name="Rectangle 9"/>
          <p:cNvSpPr/>
          <p:nvPr/>
        </p:nvSpPr>
        <p:spPr>
          <a:xfrm>
            <a:off x="365760" y="246888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2468880"/>
            <a:ext cx="502920" cy="502920"/>
          </a:xfrm>
          <a:prstGeom prst="rect">
            <a:avLst/>
          </a:prstGeom>
          <a:noFill/>
        </p:spPr>
        <p:txBody>
          <a:bodyPr wrap="square">
            <a:spAutoFit/>
          </a:bodyPr>
          <a:lstStyle/>
          <a:p>
            <a:pPr algn="ctr"/>
            <a:r>
              <a:rPr sz="1800" b="1">
                <a:solidFill>
                  <a:srgbClr val="FFFFFF"/>
                </a:solidFill>
                <a:latin typeface="Comfortaa"/>
              </a:rPr>
              <a:t>2</a:t>
            </a:r>
          </a:p>
        </p:txBody>
      </p:sp>
      <p:sp>
        <p:nvSpPr>
          <p:cNvPr id="12" name="TextBox 11"/>
          <p:cNvSpPr txBox="1"/>
          <p:nvPr/>
        </p:nvSpPr>
        <p:spPr>
          <a:xfrm>
            <a:off x="1005840" y="2496312"/>
            <a:ext cx="5029200" cy="457200"/>
          </a:xfrm>
          <a:prstGeom prst="rect">
            <a:avLst/>
          </a:prstGeom>
          <a:noFill/>
        </p:spPr>
        <p:txBody>
          <a:bodyPr wrap="square">
            <a:spAutoFit/>
          </a:bodyPr>
          <a:lstStyle/>
          <a:p>
            <a:pPr algn="l"/>
            <a:r>
              <a:rPr sz="1700" b="1">
                <a:solidFill>
                  <a:srgbClr val="002060"/>
                </a:solidFill>
                <a:latin typeface="Comfortaa"/>
              </a:rPr>
              <a:t>Apache Airflow</a:t>
            </a:r>
          </a:p>
        </p:txBody>
      </p:sp>
      <p:sp>
        <p:nvSpPr>
          <p:cNvPr id="13" name="TextBox 12"/>
          <p:cNvSpPr txBox="1"/>
          <p:nvPr/>
        </p:nvSpPr>
        <p:spPr>
          <a:xfrm>
            <a:off x="1005840" y="2926080"/>
            <a:ext cx="10515600" cy="411480"/>
          </a:xfrm>
          <a:prstGeom prst="rect">
            <a:avLst/>
          </a:prstGeom>
          <a:noFill/>
        </p:spPr>
        <p:txBody>
          <a:bodyPr wrap="square">
            <a:spAutoFit/>
          </a:bodyPr>
          <a:lstStyle/>
          <a:p>
            <a:pPr algn="l"/>
            <a:r>
              <a:rPr sz="1200" b="0">
                <a:solidFill>
                  <a:srgbClr val="444444"/>
                </a:solidFill>
                <a:latin typeface="Comfortaa"/>
              </a:rPr>
              <a:t>DAGs y operadores  ·  Scheduling y dependencias  ·  Monitorización de pipelines</a:t>
            </a:r>
          </a:p>
        </p:txBody>
      </p:sp>
      <p:sp>
        <p:nvSpPr>
          <p:cNvPr id="14" name="Rectangle 13"/>
          <p:cNvSpPr/>
          <p:nvPr/>
        </p:nvSpPr>
        <p:spPr>
          <a:xfrm>
            <a:off x="365760" y="342900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3429000"/>
            <a:ext cx="502920" cy="502920"/>
          </a:xfrm>
          <a:prstGeom prst="rect">
            <a:avLst/>
          </a:prstGeom>
          <a:noFill/>
        </p:spPr>
        <p:txBody>
          <a:bodyPr wrap="square">
            <a:spAutoFit/>
          </a:bodyPr>
          <a:lstStyle/>
          <a:p>
            <a:pPr algn="ctr"/>
            <a:r>
              <a:rPr sz="1800" b="1">
                <a:solidFill>
                  <a:srgbClr val="FFFFFF"/>
                </a:solidFill>
                <a:latin typeface="Comfortaa"/>
              </a:rPr>
              <a:t>3</a:t>
            </a:r>
          </a:p>
        </p:txBody>
      </p:sp>
      <p:sp>
        <p:nvSpPr>
          <p:cNvPr id="16" name="TextBox 15"/>
          <p:cNvSpPr txBox="1"/>
          <p:nvPr/>
        </p:nvSpPr>
        <p:spPr>
          <a:xfrm>
            <a:off x="1005840" y="3456432"/>
            <a:ext cx="5029200" cy="457200"/>
          </a:xfrm>
          <a:prstGeom prst="rect">
            <a:avLst/>
          </a:prstGeom>
          <a:noFill/>
        </p:spPr>
        <p:txBody>
          <a:bodyPr wrap="square">
            <a:spAutoFit/>
          </a:bodyPr>
          <a:lstStyle/>
          <a:p>
            <a:pPr algn="l"/>
            <a:r>
              <a:rPr sz="1700" b="1">
                <a:solidFill>
                  <a:srgbClr val="002060"/>
                </a:solidFill>
                <a:latin typeface="Comfortaa"/>
              </a:rPr>
              <a:t>dbt (Data Build Tool)</a:t>
            </a:r>
          </a:p>
        </p:txBody>
      </p:sp>
      <p:sp>
        <p:nvSpPr>
          <p:cNvPr id="17" name="TextBox 16"/>
          <p:cNvSpPr txBox="1"/>
          <p:nvPr/>
        </p:nvSpPr>
        <p:spPr>
          <a:xfrm>
            <a:off x="1005840" y="3886200"/>
            <a:ext cx="10515600" cy="411480"/>
          </a:xfrm>
          <a:prstGeom prst="rect">
            <a:avLst/>
          </a:prstGeom>
          <a:noFill/>
        </p:spPr>
        <p:txBody>
          <a:bodyPr wrap="square">
            <a:spAutoFit/>
          </a:bodyPr>
          <a:lstStyle/>
          <a:p>
            <a:pPr algn="l"/>
            <a:r>
              <a:rPr sz="1200" b="0">
                <a:solidFill>
                  <a:srgbClr val="444444"/>
                </a:solidFill>
                <a:latin typeface="Comfortaa"/>
              </a:rPr>
              <a:t>Modelos y transformaciones  ·  Tests de calidad  ·  Documentación automática</a:t>
            </a:r>
          </a:p>
        </p:txBody>
      </p:sp>
      <p:sp>
        <p:nvSpPr>
          <p:cNvPr id="18" name="Rectangle 17"/>
          <p:cNvSpPr/>
          <p:nvPr/>
        </p:nvSpPr>
        <p:spPr>
          <a:xfrm>
            <a:off x="365760" y="438912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4389120"/>
            <a:ext cx="502920" cy="502920"/>
          </a:xfrm>
          <a:prstGeom prst="rect">
            <a:avLst/>
          </a:prstGeom>
          <a:noFill/>
        </p:spPr>
        <p:txBody>
          <a:bodyPr wrap="square">
            <a:spAutoFit/>
          </a:bodyPr>
          <a:lstStyle/>
          <a:p>
            <a:pPr algn="ctr"/>
            <a:r>
              <a:rPr sz="1800" b="1">
                <a:solidFill>
                  <a:srgbClr val="FFFFFF"/>
                </a:solidFill>
                <a:latin typeface="Comfortaa"/>
              </a:rPr>
              <a:t>4</a:t>
            </a:r>
          </a:p>
        </p:txBody>
      </p:sp>
      <p:sp>
        <p:nvSpPr>
          <p:cNvPr id="20" name="TextBox 19"/>
          <p:cNvSpPr txBox="1"/>
          <p:nvPr/>
        </p:nvSpPr>
        <p:spPr>
          <a:xfrm>
            <a:off x="1005840" y="4416552"/>
            <a:ext cx="5029200" cy="457200"/>
          </a:xfrm>
          <a:prstGeom prst="rect">
            <a:avLst/>
          </a:prstGeom>
          <a:noFill/>
        </p:spPr>
        <p:txBody>
          <a:bodyPr wrap="square">
            <a:spAutoFit/>
          </a:bodyPr>
          <a:lstStyle/>
          <a:p>
            <a:pPr algn="l"/>
            <a:r>
              <a:rPr sz="1700" b="1">
                <a:solidFill>
                  <a:srgbClr val="002060"/>
                </a:solidFill>
                <a:latin typeface="Comfortaa"/>
              </a:rPr>
              <a:t>Apache Spark</a:t>
            </a:r>
          </a:p>
        </p:txBody>
      </p:sp>
      <p:sp>
        <p:nvSpPr>
          <p:cNvPr id="21" name="TextBox 20"/>
          <p:cNvSpPr txBox="1"/>
          <p:nvPr/>
        </p:nvSpPr>
        <p:spPr>
          <a:xfrm>
            <a:off x="1005840" y="4846320"/>
            <a:ext cx="10515600" cy="411480"/>
          </a:xfrm>
          <a:prstGeom prst="rect">
            <a:avLst/>
          </a:prstGeom>
          <a:noFill/>
        </p:spPr>
        <p:txBody>
          <a:bodyPr wrap="square">
            <a:spAutoFit/>
          </a:bodyPr>
          <a:lstStyle/>
          <a:p>
            <a:pPr algn="l"/>
            <a:r>
              <a:rPr sz="1200" b="0">
                <a:solidFill>
                  <a:srgbClr val="444444"/>
                </a:solidFill>
                <a:latin typeface="Comfortaa"/>
              </a:rPr>
              <a:t>RDDs y DataFrames  ·  Spark SQL  ·  Procesamiento en streaming</a:t>
            </a:r>
          </a:p>
        </p:txBody>
      </p:sp>
      <p:sp>
        <p:nvSpPr>
          <p:cNvPr id="22" name="Rectangle 21"/>
          <p:cNvSpPr/>
          <p:nvPr/>
        </p:nvSpPr>
        <p:spPr>
          <a:xfrm>
            <a:off x="365760" y="5349240"/>
            <a:ext cx="502920" cy="502920"/>
          </a:xfrm>
          <a:prstGeom prst="rect">
            <a:avLst/>
          </a:prstGeom>
          <a:solidFill>
            <a:srgbClr val="07A7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5349240"/>
            <a:ext cx="502920" cy="502920"/>
          </a:xfrm>
          <a:prstGeom prst="rect">
            <a:avLst/>
          </a:prstGeom>
          <a:noFill/>
        </p:spPr>
        <p:txBody>
          <a:bodyPr wrap="square">
            <a:spAutoFit/>
          </a:bodyPr>
          <a:lstStyle/>
          <a:p>
            <a:pPr algn="ctr"/>
            <a:r>
              <a:rPr sz="1800" b="1">
                <a:solidFill>
                  <a:srgbClr val="FFFFFF"/>
                </a:solidFill>
                <a:latin typeface="Comfortaa"/>
              </a:rPr>
              <a:t>5</a:t>
            </a:r>
          </a:p>
        </p:txBody>
      </p:sp>
      <p:sp>
        <p:nvSpPr>
          <p:cNvPr id="24" name="TextBox 23"/>
          <p:cNvSpPr txBox="1"/>
          <p:nvPr/>
        </p:nvSpPr>
        <p:spPr>
          <a:xfrm>
            <a:off x="1005840" y="5376672"/>
            <a:ext cx="5029200" cy="457200"/>
          </a:xfrm>
          <a:prstGeom prst="rect">
            <a:avLst/>
          </a:prstGeom>
          <a:noFill/>
        </p:spPr>
        <p:txBody>
          <a:bodyPr wrap="square">
            <a:spAutoFit/>
          </a:bodyPr>
          <a:lstStyle/>
          <a:p>
            <a:pPr algn="l"/>
            <a:r>
              <a:rPr sz="1700" b="1">
                <a:solidFill>
                  <a:srgbClr val="002060"/>
                </a:solidFill>
                <a:latin typeface="Comfortaa"/>
              </a:rPr>
              <a:t>Arquitecturas Cloud de Datos</a:t>
            </a:r>
          </a:p>
        </p:txBody>
      </p:sp>
      <p:sp>
        <p:nvSpPr>
          <p:cNvPr id="25" name="TextBox 24"/>
          <p:cNvSpPr txBox="1"/>
          <p:nvPr/>
        </p:nvSpPr>
        <p:spPr>
          <a:xfrm>
            <a:off x="1005840" y="5806440"/>
            <a:ext cx="10515600" cy="411480"/>
          </a:xfrm>
          <a:prstGeom prst="rect">
            <a:avLst/>
          </a:prstGeom>
          <a:noFill/>
        </p:spPr>
        <p:txBody>
          <a:bodyPr wrap="square">
            <a:spAutoFit/>
          </a:bodyPr>
          <a:lstStyle/>
          <a:p>
            <a:pPr algn="l"/>
            <a:r>
              <a:rPr sz="1200" b="0">
                <a:solidFill>
                  <a:srgbClr val="444444"/>
                </a:solidFill>
                <a:latin typeface="Comfortaa"/>
              </a:rPr>
              <a:t>Data Warehouse (Snowflake)  ·  Data Lake (S3 + Delta Lake)  ·  Data Lakehouse</a:t>
            </a:r>
          </a:p>
        </p:txBody>
      </p:sp>
      <p:sp>
        <p:nvSpPr>
          <p:cNvPr id="26" name="Rectangle 25"/>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1</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Fundamentos de Ingeniería de Datos</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ETL vs ELT</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Arquitecturas de datos</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Calidad y linaje de datos</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Ingeniería de Datos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de Ingeniería de Datos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Ingeniería de Datos: La Columna Vertebral de la IA</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Sin datos limpios, accesibles y fiables, el Machine Learning y el análisis son imposibles. El ingeniero de datos construye la infraestructura que mueve los datos desde las fuentes hasta los consumidores. Es el fontanero de la era digital.</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de Ingeniería de Datos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ETL vs ELT</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ETL (Extract, Transform, Load) transforma los datos antes de cargarlos: ideal para sistemas legacy y datos sensibles. ELT (Extract, Load, Transform) carga primero y transforma en el destino: aprovecha la potencia de los Data Warehouses modernos como Snowflake o BigQuery.</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de Ingeniería de Datos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Arquitecturas Modernas de Datos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Data Warehouse: datos estructurados para análisis OLAP (Snowflake, BigQuery, Redshift). Data Lake: datos crudos en cualquier formato (S3, ADLS). Data Lakehouse: combina la flexibilidad del lake con las garantías ACID del warehouse (Delta Lake, Apache Iceberg).</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de Ingeniería de Datos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Calidad y Linaje de Datos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La calidad de datos mide completitud, consistencia, exactitud y oportunidad. El linaje traza el origen y las transformaciones de cada dato. dbt y Great Expectations automatizan los tests de calidad. Apache Atlas gestiona el linaje en ecosistemas Hadoop.</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1: Fundamentos de Ingeniería de Datos</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Diseña la arquitectura de datos para una empresa de retail: identifica las fuentes (ERP, e-commerce, CRM), define el pipeline ETL/ELT, elige las tecnologías de almacenamiento y describe cómo garantizarías la calidad de los datos.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2</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Apache Airflow</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DAGs y operadores</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Scheduling y dependencias</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Monitorización de pipelines</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Ingeniería de Datos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Apache Airflow</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Apache Airflow: El Orquestador de Pipelines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Apache Airflow es el estándar de facto para orquestar pipelines de datos. Permite definir, programar y monitorizar flujos de trabajo complejos como código Python. Usado por Airbnb, Twitter y más de 10.000 organizaciones en todo el mundo.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Apache Airflow</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DAGs: Directed Acyclic Graphs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Un DAG define el pipeline como un grafo dirigido sin ciclos: cada nodo es una tarea, cada arista es una dependencia. Los DAGs se definen en Python, lo que permite lógica dinámica, parametrización y reutilización de componentes.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Apache Airflow</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Operadores y Hooks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Los operadores definen qué hace cada tarea: PythonOperator (código Python), BashOperator (comandos shell), SQLOperator (consultas SQL), S3Operator (archivos en S3). Los hooks son conexiones reutilizables a sistemas externos.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Apache Airflow</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Scheduling y Dependencias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Los DAGs se programan con expresiones cron o intervalos predefinidos (@daily, @hourly). Las dependencias (set_upstream, set_downstream) garantizan el orden de ejecución. Los sensores esperan condiciones externas antes de continuar.</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2: Apache Airflow</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Crea un DAG en Airflow que extraiga datos de una API pública cada día a las 6am, los transforme con Python, los cargue en PostgreSQL y envíe un email de confirmación si el proceso termina correctamente.</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7A74F"/>
        </a:solidFill>
        <a:effectLst/>
      </p:bgPr>
    </p:bg>
    <p:spTree>
      <p:nvGrpSpPr>
        <p:cNvPr id="1" name=""/>
        <p:cNvGrpSpPr/>
        <p:nvPr/>
      </p:nvGrpSpPr>
      <p:grpSpPr/>
      <p:sp>
        <p:nvSpPr>
          <p:cNvPr id="2" name="Rectangle 1"/>
          <p:cNvSpPr/>
          <p:nvPr/>
        </p:nvSpPr>
        <p:spPr>
          <a:xfrm>
            <a:off x="0" y="0"/>
            <a:ext cx="320040" cy="68580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7315200" cy="548640"/>
          </a:xfrm>
          <a:prstGeom prst="rect">
            <a:avLst/>
          </a:prstGeom>
          <a:noFill/>
        </p:spPr>
        <p:txBody>
          <a:bodyPr wrap="square">
            <a:spAutoFit/>
          </a:bodyPr>
          <a:lstStyle/>
          <a:p>
            <a:pPr algn="l"/>
            <a:r>
              <a:rPr sz="2000" b="1">
                <a:solidFill>
                  <a:srgbClr val="FFFFFF"/>
                </a:solidFill>
                <a:latin typeface="Comfortaa"/>
              </a:rPr>
              <a:t>MÓDULO 3</a:t>
            </a:r>
          </a:p>
        </p:txBody>
      </p:sp>
      <p:sp>
        <p:nvSpPr>
          <p:cNvPr id="4" name="TextBox 3"/>
          <p:cNvSpPr txBox="1"/>
          <p:nvPr/>
        </p:nvSpPr>
        <p:spPr>
          <a:xfrm>
            <a:off x="548640" y="2011680"/>
            <a:ext cx="10515600" cy="1645920"/>
          </a:xfrm>
          <a:prstGeom prst="rect">
            <a:avLst/>
          </a:prstGeom>
          <a:noFill/>
        </p:spPr>
        <p:txBody>
          <a:bodyPr wrap="square">
            <a:spAutoFit/>
          </a:bodyPr>
          <a:lstStyle/>
          <a:p>
            <a:pPr algn="l"/>
            <a:r>
              <a:rPr sz="4000" b="1">
                <a:solidFill>
                  <a:srgbClr val="FFFFFF"/>
                </a:solidFill>
                <a:latin typeface="Comfortaa"/>
              </a:rPr>
              <a:t>dbt (Data Build Tool)</a:t>
            </a:r>
          </a:p>
        </p:txBody>
      </p:sp>
      <p:sp>
        <p:nvSpPr>
          <p:cNvPr id="5" name="TextBox 4"/>
          <p:cNvSpPr txBox="1"/>
          <p:nvPr/>
        </p:nvSpPr>
        <p:spPr>
          <a:xfrm>
            <a:off x="731520" y="3840480"/>
            <a:ext cx="7315200" cy="457200"/>
          </a:xfrm>
          <a:prstGeom prst="rect">
            <a:avLst/>
          </a:prstGeom>
          <a:noFill/>
        </p:spPr>
        <p:txBody>
          <a:bodyPr wrap="square">
            <a:spAutoFit/>
          </a:bodyPr>
          <a:lstStyle/>
          <a:p>
            <a:pPr algn="l"/>
            <a:r>
              <a:rPr sz="1600" b="0">
                <a:solidFill>
                  <a:srgbClr val="FFFFFF"/>
                </a:solidFill>
                <a:latin typeface="Comfortaa"/>
              </a:rPr>
              <a:t>→  Modelos y transformaciones</a:t>
            </a:r>
          </a:p>
        </p:txBody>
      </p:sp>
      <p:sp>
        <p:nvSpPr>
          <p:cNvPr id="6" name="TextBox 5"/>
          <p:cNvSpPr txBox="1"/>
          <p:nvPr/>
        </p:nvSpPr>
        <p:spPr>
          <a:xfrm>
            <a:off x="731520" y="4343400"/>
            <a:ext cx="7315200" cy="457200"/>
          </a:xfrm>
          <a:prstGeom prst="rect">
            <a:avLst/>
          </a:prstGeom>
          <a:noFill/>
        </p:spPr>
        <p:txBody>
          <a:bodyPr wrap="square">
            <a:spAutoFit/>
          </a:bodyPr>
          <a:lstStyle/>
          <a:p>
            <a:pPr algn="l"/>
            <a:r>
              <a:rPr sz="1600" b="0">
                <a:solidFill>
                  <a:srgbClr val="FFFFFF"/>
                </a:solidFill>
                <a:latin typeface="Comfortaa"/>
              </a:rPr>
              <a:t>→  Tests de calidad</a:t>
            </a:r>
          </a:p>
        </p:txBody>
      </p:sp>
      <p:sp>
        <p:nvSpPr>
          <p:cNvPr id="7" name="TextBox 6"/>
          <p:cNvSpPr txBox="1"/>
          <p:nvPr/>
        </p:nvSpPr>
        <p:spPr>
          <a:xfrm>
            <a:off x="731520" y="4846320"/>
            <a:ext cx="7315200" cy="457200"/>
          </a:xfrm>
          <a:prstGeom prst="rect">
            <a:avLst/>
          </a:prstGeom>
          <a:noFill/>
        </p:spPr>
        <p:txBody>
          <a:bodyPr wrap="square">
            <a:spAutoFit/>
          </a:bodyPr>
          <a:lstStyle/>
          <a:p>
            <a:pPr algn="l"/>
            <a:r>
              <a:rPr sz="1600" b="0">
                <a:solidFill>
                  <a:srgbClr val="FFFFFF"/>
                </a:solidFill>
                <a:latin typeface="Comfortaa"/>
              </a:rPr>
              <a:t>→  Documentación automática</a:t>
            </a:r>
          </a:p>
        </p:txBody>
      </p:sp>
      <p:sp>
        <p:nvSpPr>
          <p:cNvPr id="8" name="Rectangle 7"/>
          <p:cNvSpPr/>
          <p:nvPr/>
        </p:nvSpPr>
        <p:spPr>
          <a:xfrm>
            <a:off x="0" y="6309360"/>
            <a:ext cx="12188952" cy="5486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327648"/>
            <a:ext cx="10972800" cy="365760"/>
          </a:xfrm>
          <a:prstGeom prst="rect">
            <a:avLst/>
          </a:prstGeom>
          <a:noFill/>
        </p:spPr>
        <p:txBody>
          <a:bodyPr wrap="square">
            <a:spAutoFit/>
          </a:bodyPr>
          <a:lstStyle/>
          <a:p>
            <a:pPr algn="l"/>
            <a:r>
              <a:rPr sz="1300" b="0">
                <a:solidFill>
                  <a:srgbClr val="FFFFFF"/>
                </a:solidFill>
                <a:latin typeface="Comfortaa"/>
              </a:rPr>
              <a:t>dataquantum  ·  Ingeniería de Datos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dbt (Data Build Tool)</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dbt: Transformaciones de Datos como Código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dbt (data build tool) permite a analistas y ingenieros transformar datos en el Data Warehouse usando SQL, con las mejores prácticas de ingeniería de software: control de versiones, tests, documentación y modularidad.</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1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dbt (Data Build Tool)</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Modelos y Transformaciones</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Un modelo dbt es un archivo SQL con una SELECT que define una transformación. dbt compila los modelos en el orden correcto según las dependencias (ref()). Los materializaciones pueden ser views, tables o incremental para grandes volúmenes.</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2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dbt (Data Build Tool)</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Tests de Calidad en dbt</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dbt incluye tests genéricos (not_null, unique, accepted_values, relationships) y permite tests personalizados en SQL. Se ejecutan con dbt test y pueden integrarse en pipelines CI/CD para garantizar la calidad antes de cada despliegue.</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3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dbt (Data Build Tool)</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Documentación Automática</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dbt genera documentación automática del modelo de datos: descripción de tablas y columnas, linaje visual (DAG de dependencias), tests asociados y métricas. dbt docs serve publica la documentación como un sitio web navegable.</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4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37160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10058400" cy="411480"/>
          </a:xfrm>
          <a:prstGeom prst="rect">
            <a:avLst/>
          </a:prstGeom>
          <a:noFill/>
        </p:spPr>
        <p:txBody>
          <a:bodyPr wrap="square">
            <a:spAutoFit/>
          </a:bodyPr>
          <a:lstStyle/>
          <a:p>
            <a:pPr algn="l"/>
            <a:r>
              <a:rPr sz="1200" b="0">
                <a:solidFill>
                  <a:srgbClr val="07A74F"/>
                </a:solidFill>
                <a:latin typeface="Comfortaa"/>
              </a:rPr>
              <a:t>Módulo 3: dbt (Data Build Tool)</a:t>
            </a:r>
          </a:p>
        </p:txBody>
      </p:sp>
      <p:sp>
        <p:nvSpPr>
          <p:cNvPr id="4" name="TextBox 3"/>
          <p:cNvSpPr txBox="1"/>
          <p:nvPr/>
        </p:nvSpPr>
        <p:spPr>
          <a:xfrm>
            <a:off x="457200" y="457200"/>
            <a:ext cx="10972800" cy="822960"/>
          </a:xfrm>
          <a:prstGeom prst="rect">
            <a:avLst/>
          </a:prstGeom>
          <a:noFill/>
        </p:spPr>
        <p:txBody>
          <a:bodyPr wrap="square">
            <a:spAutoFit/>
          </a:bodyPr>
          <a:lstStyle/>
          <a:p>
            <a:pPr algn="l"/>
            <a:r>
              <a:rPr sz="2400" b="1">
                <a:solidFill>
                  <a:srgbClr val="FFFFFF"/>
                </a:solidFill>
                <a:latin typeface="Comfortaa"/>
              </a:rPr>
              <a:t>Ejercicio Práctico</a:t>
            </a:r>
          </a:p>
        </p:txBody>
      </p:sp>
      <p:sp>
        <p:nvSpPr>
          <p:cNvPr id="5" name="Rectangle 4"/>
          <p:cNvSpPr/>
          <p:nvPr/>
        </p:nvSpPr>
        <p:spPr>
          <a:xfrm>
            <a:off x="0" y="1371600"/>
            <a:ext cx="12188952" cy="64008"/>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00200"/>
            <a:ext cx="10515600" cy="4114800"/>
          </a:xfrm>
          <a:prstGeom prst="rect">
            <a:avLst/>
          </a:prstGeom>
          <a:noFill/>
        </p:spPr>
        <p:txBody>
          <a:bodyPr wrap="square">
            <a:spAutoFit/>
          </a:bodyPr>
          <a:lstStyle/>
          <a:p>
            <a:pPr algn="l"/>
            <a:r>
              <a:rPr sz="1800" b="0">
                <a:solidFill>
                  <a:srgbClr val="002060"/>
                </a:solidFill>
                <a:latin typeface="Comfortaa"/>
              </a:rPr>
              <a:t>Crea un proyecto dbt para transformar datos crudos de ventas en un modelo estrella: define los modelos staging, intermediate y marts, añade tests de calidad en cada capa y genera la documentación con el linaje completo.</a:t>
            </a:r>
          </a:p>
        </p:txBody>
      </p:sp>
      <p:sp>
        <p:nvSpPr>
          <p:cNvPr id="7" name="TextBox 6"/>
          <p:cNvSpPr txBox="1"/>
          <p:nvPr/>
        </p:nvSpPr>
        <p:spPr>
          <a:xfrm>
            <a:off x="10515600" y="6309360"/>
            <a:ext cx="1371600" cy="365760"/>
          </a:xfrm>
          <a:prstGeom prst="rect">
            <a:avLst/>
          </a:prstGeom>
          <a:noFill/>
        </p:spPr>
        <p:txBody>
          <a:bodyPr wrap="square">
            <a:spAutoFit/>
          </a:bodyPr>
          <a:lstStyle/>
          <a:p>
            <a:pPr algn="r"/>
            <a:r>
              <a:rPr sz="1200" b="0">
                <a:solidFill>
                  <a:srgbClr val="999999"/>
                </a:solidFill>
                <a:latin typeface="Comfortaa"/>
              </a:rPr>
              <a:t>5 / 5</a:t>
            </a:r>
          </a:p>
        </p:txBody>
      </p:sp>
      <p:sp>
        <p:nvSpPr>
          <p:cNvPr id="8" name="Rectangle 7"/>
          <p:cNvSpPr/>
          <p:nvPr/>
        </p:nvSpPr>
        <p:spPr>
          <a:xfrm>
            <a:off x="0" y="6537960"/>
            <a:ext cx="12188952" cy="320040"/>
          </a:xfrm>
          <a:prstGeom prst="rect">
            <a:avLst/>
          </a:prstGeom>
          <a:solidFill>
            <a:srgbClr val="002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0" y="6556248"/>
            <a:ext cx="1828800" cy="274320"/>
          </a:xfrm>
          <a:prstGeom prst="rect">
            <a:avLst/>
          </a:prstGeom>
          <a:noFill/>
        </p:spPr>
        <p:txBody>
          <a:bodyPr wrap="square">
            <a:spAutoFit/>
          </a:bodyPr>
          <a:lstStyle/>
          <a:p>
            <a:pPr algn="r"/>
            <a:r>
              <a:rPr sz="1200" b="1">
                <a:solidFill>
                  <a:srgbClr val="FFFFFF"/>
                </a:solidFill>
                <a:latin typeface="Comfortaa"/>
              </a:rPr>
              <a:t>dataquantum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2060"/>
        </a:solidFill>
        <a:effectLst/>
      </p:bgPr>
    </p:bg>
    <p:spTree>
      <p:nvGrpSpPr>
        <p:cNvPr id="1" name=""/>
        <p:cNvGrpSpPr/>
        <p:nvPr/>
      </p:nvGrpSpPr>
      <p:grpSpPr/>
      <p:sp>
        <p:nvSpPr>
          <p:cNvPr id="2" name="Rectangle 1"/>
          <p:cNvSpPr/>
          <p:nvPr/>
        </p:nvSpPr>
        <p:spPr>
          <a:xfrm>
            <a:off x="0" y="5852160"/>
            <a:ext cx="12188952" cy="1005840"/>
          </a:xfrm>
          <a:prstGeom prst="rect">
            <a:avLst/>
          </a:prstGeom>
          <a:solidFill>
            <a:srgbClr val="FF8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0" y="1828800"/>
            <a:ext cx="12188952" cy="1097280"/>
          </a:xfrm>
          <a:prstGeom prst="rect">
            <a:avLst/>
          </a:prstGeom>
          <a:noFill/>
        </p:spPr>
        <p:txBody>
          <a:bodyPr wrap="square">
            <a:spAutoFit/>
          </a:bodyPr>
          <a:lstStyle/>
          <a:p>
            <a:pPr algn="ctr"/>
            <a:r>
              <a:rPr sz="4200" b="1">
                <a:solidFill>
                  <a:srgbClr val="FFFFFF"/>
                </a:solidFill>
                <a:latin typeface="Comfortaa"/>
              </a:rPr>
              <a:t>¡Sigue aprendiendo!</a:t>
            </a:r>
          </a:p>
        </p:txBody>
      </p:sp>
      <p:sp>
        <p:nvSpPr>
          <p:cNvPr id="4" name="TextBox 3"/>
          <p:cNvSpPr txBox="1"/>
          <p:nvPr/>
        </p:nvSpPr>
        <p:spPr>
          <a:xfrm>
            <a:off x="0" y="3017520"/>
            <a:ext cx="12188952" cy="640080"/>
          </a:xfrm>
          <a:prstGeom prst="rect">
            <a:avLst/>
          </a:prstGeom>
          <a:noFill/>
        </p:spPr>
        <p:txBody>
          <a:bodyPr wrap="square">
            <a:spAutoFit/>
          </a:bodyPr>
          <a:lstStyle/>
          <a:p>
            <a:pPr algn="ctr"/>
            <a:r>
              <a:rPr sz="2200" b="0">
                <a:solidFill>
                  <a:srgbClr val="07A74F"/>
                </a:solidFill>
                <a:latin typeface="Comfortaa"/>
              </a:rPr>
              <a:t>Ingeniería de Datos</a:t>
            </a:r>
          </a:p>
        </p:txBody>
      </p:sp>
      <p:sp>
        <p:nvSpPr>
          <p:cNvPr id="5" name="TextBox 4"/>
          <p:cNvSpPr txBox="1"/>
          <p:nvPr/>
        </p:nvSpPr>
        <p:spPr>
          <a:xfrm>
            <a:off x="0" y="5897880"/>
            <a:ext cx="12188952" cy="548640"/>
          </a:xfrm>
          <a:prstGeom prst="rect">
            <a:avLst/>
          </a:prstGeom>
          <a:noFill/>
        </p:spPr>
        <p:txBody>
          <a:bodyPr wrap="square">
            <a:spAutoFit/>
          </a:bodyPr>
          <a:lstStyle/>
          <a:p>
            <a:pPr algn="ctr"/>
            <a:r>
              <a:rPr sz="1800" b="1">
                <a:solidFill>
                  <a:srgbClr val="FFFFFF"/>
                </a:solidFill>
                <a:latin typeface="Comfortaa"/>
              </a:rPr>
              <a:t>dataquantum Learning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